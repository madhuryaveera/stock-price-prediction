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82" r:id="rId1"/>
  </p:sldMasterIdLst>
  <p:notesMasterIdLst>
    <p:notesMasterId r:id="rId32"/>
  </p:notesMasterIdLst>
  <p:sldIdLst>
    <p:sldId id="305" r:id="rId2"/>
    <p:sldId id="373" r:id="rId3"/>
    <p:sldId id="306" r:id="rId4"/>
    <p:sldId id="369" r:id="rId5"/>
    <p:sldId id="380" r:id="rId6"/>
    <p:sldId id="370" r:id="rId7"/>
    <p:sldId id="309" r:id="rId8"/>
    <p:sldId id="378" r:id="rId9"/>
    <p:sldId id="314" r:id="rId10"/>
    <p:sldId id="395" r:id="rId11"/>
    <p:sldId id="366" r:id="rId12"/>
    <p:sldId id="392" r:id="rId13"/>
    <p:sldId id="403" r:id="rId14"/>
    <p:sldId id="406" r:id="rId15"/>
    <p:sldId id="407" r:id="rId16"/>
    <p:sldId id="511" r:id="rId17"/>
    <p:sldId id="512" r:id="rId18"/>
    <p:sldId id="513" r:id="rId19"/>
    <p:sldId id="514" r:id="rId20"/>
    <p:sldId id="515" r:id="rId21"/>
    <p:sldId id="417" r:id="rId22"/>
    <p:sldId id="423" r:id="rId23"/>
    <p:sldId id="503" r:id="rId24"/>
    <p:sldId id="520" r:id="rId25"/>
    <p:sldId id="517" r:id="rId26"/>
    <p:sldId id="459" r:id="rId27"/>
    <p:sldId id="461" r:id="rId28"/>
    <p:sldId id="499" r:id="rId29"/>
    <p:sldId id="495" r:id="rId30"/>
    <p:sldId id="44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58" autoAdjust="0"/>
    <p:restoredTop sz="94660"/>
  </p:normalViewPr>
  <p:slideViewPr>
    <p:cSldViewPr snapToGrid="0">
      <p:cViewPr varScale="1">
        <p:scale>
          <a:sx n="107" d="100"/>
          <a:sy n="107" d="100"/>
        </p:scale>
        <p:origin x="46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1FA5-2981-4E75-BA30-E97417CF0359}"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23885-6582-4039-9DAA-D8C0F68A2D84}" type="slidenum">
              <a:rPr lang="en-US" smtClean="0"/>
              <a:t>‹#›</a:t>
            </a:fld>
            <a:endParaRPr lang="en-US"/>
          </a:p>
        </p:txBody>
      </p:sp>
    </p:spTree>
    <p:extLst>
      <p:ext uri="{BB962C8B-B14F-4D97-AF65-F5344CB8AC3E}">
        <p14:creationId xmlns:p14="http://schemas.microsoft.com/office/powerpoint/2010/main" val="417732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A23885-6582-4039-9DAA-D8C0F68A2D84}" type="slidenum">
              <a:rPr lang="en-US" smtClean="0"/>
              <a:t>3</a:t>
            </a:fld>
            <a:endParaRPr lang="en-US"/>
          </a:p>
        </p:txBody>
      </p:sp>
    </p:spTree>
    <p:extLst>
      <p:ext uri="{BB962C8B-B14F-4D97-AF65-F5344CB8AC3E}">
        <p14:creationId xmlns:p14="http://schemas.microsoft.com/office/powerpoint/2010/main" val="2796471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A23885-6582-4039-9DAA-D8C0F68A2D84}" type="slidenum">
              <a:rPr lang="en-US" smtClean="0"/>
              <a:t>7</a:t>
            </a:fld>
            <a:endParaRPr lang="en-US"/>
          </a:p>
        </p:txBody>
      </p:sp>
    </p:spTree>
    <p:extLst>
      <p:ext uri="{BB962C8B-B14F-4D97-AF65-F5344CB8AC3E}">
        <p14:creationId xmlns:p14="http://schemas.microsoft.com/office/powerpoint/2010/main" val="780799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940694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319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8885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11884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41146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530992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338415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337569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1684790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68166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561653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06533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10783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414608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038439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2995728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3628685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A271C-94AB-4F01-9154-9BAB15E4C5DB}" type="datetimeFigureOut">
              <a:rPr lang="en-IN" smtClean="0"/>
              <a:t>22-11-2025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28FC130-8D73-43DA-9F1A-B2F7AD225EF8}" type="slidenum">
              <a:rPr lang="en-IN" smtClean="0"/>
              <a:t>‹#›</a:t>
            </a:fld>
            <a:endParaRPr lang="en-IN" dirty="0"/>
          </a:p>
        </p:txBody>
      </p:sp>
    </p:spTree>
    <p:extLst>
      <p:ext uri="{BB962C8B-B14F-4D97-AF65-F5344CB8AC3E}">
        <p14:creationId xmlns:p14="http://schemas.microsoft.com/office/powerpoint/2010/main" val="903502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6CA271C-94AB-4F01-9154-9BAB15E4C5DB}" type="datetimeFigureOut">
              <a:rPr lang="en-IN" smtClean="0"/>
              <a:t>22-11-2025</a:t>
            </a:fld>
            <a:endParaRPr lang="en-IN"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28FC130-8D73-43DA-9F1A-B2F7AD225EF8}" type="slidenum">
              <a:rPr lang="en-IN" smtClean="0"/>
              <a:t>‹#›</a:t>
            </a:fld>
            <a:endParaRPr lang="en-IN" dirty="0"/>
          </a:p>
        </p:txBody>
      </p:sp>
    </p:spTree>
    <p:extLst>
      <p:ext uri="{BB962C8B-B14F-4D97-AF65-F5344CB8AC3E}">
        <p14:creationId xmlns:p14="http://schemas.microsoft.com/office/powerpoint/2010/main" val="3615922245"/>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1073134" y="2033672"/>
            <a:ext cx="10735574" cy="1583635"/>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US" b="1" dirty="0">
                <a:latin typeface="Times New Roman" panose="02020603050405020304" pitchFamily="18" charset="0"/>
                <a:cs typeface="Times New Roman" panose="02020603050405020304" pitchFamily="18" charset="0"/>
              </a:rPr>
              <a:t>Stock Price Prediction using Machine Learning</a:t>
            </a:r>
          </a:p>
        </p:txBody>
      </p:sp>
      <p:sp>
        <p:nvSpPr>
          <p:cNvPr id="5" name="Rounded Rectangle 1"/>
          <p:cNvSpPr>
            <a:spLocks noChangeArrowheads="1"/>
          </p:cNvSpPr>
          <p:nvPr/>
        </p:nvSpPr>
        <p:spPr bwMode="auto">
          <a:xfrm>
            <a:off x="1073134" y="210972"/>
            <a:ext cx="3273579" cy="960048"/>
          </a:xfrm>
          <a:prstGeom prst="roundRect">
            <a:avLst>
              <a:gd name="adj" fmla="val 16667"/>
            </a:avLst>
          </a:prstGeom>
          <a:no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2">
            <a:schemeClr val="accent2"/>
          </a:lnRef>
          <a:fillRef idx="1">
            <a:schemeClr val="lt1"/>
          </a:fillRef>
          <a:effectRef idx="0">
            <a:schemeClr val="accent2"/>
          </a:effectRef>
          <a:fontRef idx="minor">
            <a:schemeClr val="dk1"/>
          </a:fontRef>
        </p:style>
        <p:txBody>
          <a:bodyPr/>
          <a:lstStyle/>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Domain:  DL</a:t>
            </a:r>
          </a:p>
          <a:p>
            <a:pPr>
              <a:buClr>
                <a:srgbClr val="000000"/>
              </a:buClr>
              <a:buSzPct val="100000"/>
            </a:pPr>
            <a:r>
              <a:rPr lang="en-US" altLang="en-US" sz="2400" b="1" dirty="0">
                <a:solidFill>
                  <a:schemeClr val="tx1"/>
                </a:solidFill>
                <a:latin typeface="Times New Roman" panose="02020603050405020304" pitchFamily="18" charset="0"/>
                <a:cs typeface="Times New Roman" panose="02020603050405020304" pitchFamily="18" charset="0"/>
              </a:rPr>
              <a:t>Technology: Python</a:t>
            </a:r>
          </a:p>
        </p:txBody>
      </p:sp>
    </p:spTree>
    <p:extLst>
      <p:ext uri="{BB962C8B-B14F-4D97-AF65-F5344CB8AC3E}">
        <p14:creationId xmlns:p14="http://schemas.microsoft.com/office/powerpoint/2010/main" val="621638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1962" y="1197590"/>
            <a:ext cx="2489784" cy="4154984"/>
          </a:xfrm>
          <a:prstGeom prst="rect">
            <a:avLst/>
          </a:prstGeom>
        </p:spPr>
        <p:txBody>
          <a:bodyPr wrap="none">
            <a:spAutoFit/>
          </a:bodyPr>
          <a:lstStyle/>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Implementation</a:t>
            </a:r>
          </a:p>
        </p:txBody>
      </p:sp>
      <p:sp>
        <p:nvSpPr>
          <p:cNvPr id="3" name="Rectangle 2"/>
          <p:cNvSpPr/>
          <p:nvPr/>
        </p:nvSpPr>
        <p:spPr>
          <a:xfrm>
            <a:off x="6647160" y="1197590"/>
            <a:ext cx="3097731" cy="3674852"/>
          </a:xfrm>
          <a:prstGeom prst="rect">
            <a:avLst/>
          </a:prstGeom>
        </p:spPr>
        <p:txBody>
          <a:bodyPr wrap="square">
            <a:spAutoFit/>
          </a:bodyPr>
          <a:lstStyle/>
          <a:p>
            <a:pPr marL="342900"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Implementation</a:t>
            </a:r>
          </a:p>
          <a:p>
            <a:pPr lvl="1" algn="just">
              <a:lnSpc>
                <a:spcPct val="150000"/>
              </a:lnSpc>
            </a:pPr>
            <a:r>
              <a:rPr lang="en-US" sz="1600" dirty="0">
                <a:latin typeface="Times New Roman" panose="02020603050405020304" pitchFamily="18" charset="0"/>
                <a:cs typeface="Times New Roman" panose="02020603050405020304" pitchFamily="18" charset="0"/>
              </a:rPr>
              <a:t>1. Data Description</a:t>
            </a:r>
          </a:p>
          <a:p>
            <a:pPr lvl="1" algn="just">
              <a:lnSpc>
                <a:spcPct val="150000"/>
              </a:lnSpc>
            </a:pPr>
            <a:r>
              <a:rPr lang="en-US" sz="1600" dirty="0">
                <a:latin typeface="Times New Roman" panose="02020603050405020304" pitchFamily="18" charset="0"/>
                <a:cs typeface="Times New Roman" panose="02020603050405020304" pitchFamily="18" charset="0"/>
              </a:rPr>
              <a:t>2. EDA</a:t>
            </a:r>
          </a:p>
          <a:p>
            <a:pPr lvl="1" algn="just">
              <a:lnSpc>
                <a:spcPct val="150000"/>
              </a:lnSpc>
            </a:pPr>
            <a:r>
              <a:rPr lang="en-US" sz="16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Working Flow</a:t>
            </a:r>
          </a:p>
          <a:p>
            <a:pPr marL="342900" lvl="1" indent="-342900" algn="just">
              <a:lnSpc>
                <a:spcPct val="150000"/>
              </a:lnSpc>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References</a:t>
            </a:r>
            <a:endParaRPr lang="en-IN" sz="1600" dirty="0">
              <a:latin typeface="Times New Roman" panose="02020603050405020304" pitchFamily="18" charset="0"/>
              <a:cs typeface="Times New Roman" panose="02020603050405020304" pitchFamily="18" charset="0"/>
            </a:endParaRPr>
          </a:p>
          <a:p>
            <a:pPr marL="768350" lvl="2" indent="0">
              <a:lnSpc>
                <a:spcPct val="170000"/>
              </a:lnSpc>
              <a:buNone/>
            </a:pPr>
            <a:r>
              <a:rPr lang="en-US" sz="2400" dirty="0">
                <a:latin typeface="Times New Roman" panose="02020603050405020304" pitchFamily="18" charset="0"/>
                <a:cs typeface="Times New Roman" panose="02020603050405020304" pitchFamily="18" charset="0"/>
              </a:rPr>
              <a:t>		</a:t>
            </a:r>
          </a:p>
        </p:txBody>
      </p:sp>
      <p:sp>
        <p:nvSpPr>
          <p:cNvPr id="4" name="Rectangle 3"/>
          <p:cNvSpPr/>
          <p:nvPr/>
        </p:nvSpPr>
        <p:spPr>
          <a:xfrm>
            <a:off x="4881746" y="357443"/>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17807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401403" y="168465"/>
            <a:ext cx="4307168" cy="484678"/>
          </a:xfrm>
        </p:spPr>
        <p:txBody>
          <a:bodyPr>
            <a:normAutofit/>
          </a:bodyPr>
          <a:lstStyle/>
          <a:p>
            <a:r>
              <a:rPr lang="en-GB" sz="2400" b="1" dirty="0"/>
              <a:t>Project Description</a:t>
            </a:r>
            <a:endParaRPr lang="en-US" sz="2400" b="1" dirty="0">
              <a:latin typeface="Times New Roman" panose="02020603050405020304" pitchFamily="18" charset="0"/>
              <a:cs typeface="Times New Roman" panose="02020603050405020304" pitchFamily="18" charset="0"/>
            </a:endParaRPr>
          </a:p>
        </p:txBody>
      </p:sp>
      <p:sp>
        <p:nvSpPr>
          <p:cNvPr id="5" name="Rectangle 4"/>
          <p:cNvSpPr/>
          <p:nvPr/>
        </p:nvSpPr>
        <p:spPr>
          <a:xfrm>
            <a:off x="1108197" y="1039237"/>
            <a:ext cx="10008294" cy="4524315"/>
          </a:xfrm>
          <a:prstGeom prst="rect">
            <a:avLst/>
          </a:prstGeom>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This project aims to develop reliable models for predicting stock prices, focusing on banking sector stocks from the Nifty 50 index, including SBI, HDFC, Axis, ICICI, and </a:t>
            </a:r>
            <a:r>
              <a:rPr lang="en-US" dirty="0" err="1">
                <a:latin typeface="Times New Roman" panose="02020603050405020304" pitchFamily="18" charset="0"/>
                <a:cs typeface="Times New Roman" panose="02020603050405020304" pitchFamily="18" charset="0"/>
              </a:rPr>
              <a:t>IndusInd</a:t>
            </a:r>
            <a:r>
              <a:rPr lang="en-US" dirty="0">
                <a:latin typeface="Times New Roman" panose="02020603050405020304" pitchFamily="18" charset="0"/>
                <a:cs typeface="Times New Roman" panose="02020603050405020304" pitchFamily="18" charset="0"/>
              </a:rPr>
              <a:t> Bank. By analyzing five years of market data, the project compares traditional and advanced techniques such as Vanilla LSTM, Stacked LSTM, GRU, RNN. The objective is to forecast stock closing prices for the first half of 2024 and validate model accuracy by comparing predictions with actual data. The project seeks to create an optimal forecasting model that aids investors, analysts, and financial professionals in making informed decisions. This helps reduce risks and optimize investment strategies, demonstrating the potential of advanced data analysis in financial forecasting.</a:t>
            </a:r>
          </a:p>
        </p:txBody>
      </p:sp>
    </p:spTree>
    <p:extLst>
      <p:ext uri="{BB962C8B-B14F-4D97-AF65-F5344CB8AC3E}">
        <p14:creationId xmlns:p14="http://schemas.microsoft.com/office/powerpoint/2010/main" val="94353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0240" y="836306"/>
            <a:ext cx="10671519" cy="4042582"/>
          </a:xfrm>
          <a:prstGeom prst="rect">
            <a:avLst/>
          </a:prstGeom>
        </p:spPr>
        <p:txBody>
          <a:bodyPr wrap="square">
            <a:spAutoFit/>
          </a:bodyPr>
          <a:lstStyle/>
          <a:p>
            <a:pPr algn="ctr">
              <a:lnSpc>
                <a:spcPct val="150000"/>
              </a:lnSpc>
              <a:spcBef>
                <a:spcPts val="1200"/>
              </a:spcBef>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p>
          <a:p>
            <a:pPr algn="just">
              <a:lnSpc>
                <a:spcPct val="150000"/>
              </a:lnSpc>
              <a:spcBef>
                <a:spcPts val="120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stock market is inherently volatile, making it challenging for investors and financial professionals to predict stock prices accurately. Traditional forecasting methods often fall short in capturing the complex patterns and behaviors of stock market data. This project aims to address this challenge by developing an optimal and reliable forecasting model using both traditional and advanced machine learning techniques (Vanilla LSTM, Stacked LSTM, GRU, RNN) to predict the stock prices of five prominent banks in the Nifty 50 index: SBI, HDFC, Axis, ICICI, and IndusInd Bank. The goal is to enhance decision-making in the financial sector by providing precise stock price predictions, reducing investment risks, and contributing to the advancement of financial forecasting methodologies.</a:t>
            </a:r>
            <a:endParaRPr lang="en-US" dirty="0"/>
          </a:p>
        </p:txBody>
      </p:sp>
    </p:spTree>
    <p:extLst>
      <p:ext uri="{BB962C8B-B14F-4D97-AF65-F5344CB8AC3E}">
        <p14:creationId xmlns:p14="http://schemas.microsoft.com/office/powerpoint/2010/main" val="3164469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7039" y="818149"/>
            <a:ext cx="9667202" cy="5180905"/>
          </a:xfrm>
          <a:prstGeom prst="rect">
            <a:avLst/>
          </a:prstGeom>
        </p:spPr>
        <p:txBody>
          <a:bodyPr wrap="square">
            <a:spAutoFit/>
          </a:bodyPr>
          <a:lstStyle/>
          <a:p>
            <a:pPr algn="ctr">
              <a:lnSpc>
                <a:spcPct val="150000"/>
              </a:lnSpc>
              <a:spcBef>
                <a:spcPts val="1200"/>
              </a:spcBef>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Objective of the Project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latin typeface="Times New Roman" panose="02020603050405020304" pitchFamily="18" charset="0"/>
                <a:ea typeface="Times New Roman" panose="02020603050405020304" pitchFamily="18" charset="0"/>
              </a:rPr>
              <a:t>This study investigates evaluating deep learning techniques to enhance stock price forecasting accuracy.</a:t>
            </a:r>
          </a:p>
          <a:p>
            <a:pPr algn="just">
              <a:lnSpc>
                <a:spcPct val="150000"/>
              </a:lnSpc>
            </a:pPr>
            <a:r>
              <a:rPr lang="en-US" b="1" dirty="0">
                <a:latin typeface="Times New Roman" panose="02020603050405020304" pitchFamily="18" charset="0"/>
                <a:ea typeface="Times New Roman" panose="02020603050405020304" pitchFamily="18" charset="0"/>
              </a:rPr>
              <a:t>•	Data Collection and Analysis: </a:t>
            </a:r>
            <a:r>
              <a:rPr lang="en-US" dirty="0">
                <a:latin typeface="Times New Roman" panose="02020603050405020304" pitchFamily="18" charset="0"/>
                <a:ea typeface="Times New Roman" panose="02020603050405020304" pitchFamily="18" charset="0"/>
              </a:rPr>
              <a:t>Historical stock price data for five major Indian banks SBI, HDFC, AXIS, ICICI, and </a:t>
            </a:r>
            <a:r>
              <a:rPr lang="en-US" dirty="0" err="1">
                <a:latin typeface="Times New Roman" panose="02020603050405020304" pitchFamily="18" charset="0"/>
                <a:ea typeface="Times New Roman" panose="02020603050405020304" pitchFamily="18" charset="0"/>
              </a:rPr>
              <a:t>IndusInd</a:t>
            </a:r>
            <a:r>
              <a:rPr lang="en-US" dirty="0">
                <a:latin typeface="Times New Roman" panose="02020603050405020304" pitchFamily="18" charset="0"/>
                <a:ea typeface="Times New Roman" panose="02020603050405020304" pitchFamily="18" charset="0"/>
              </a:rPr>
              <a:t> Bank—will be gathered over the past five years using the Yahoo Finance API. Exploratory Data Analysis (EDA) will identify trends and patterns.</a:t>
            </a:r>
          </a:p>
          <a:p>
            <a:pPr algn="just">
              <a:lnSpc>
                <a:spcPct val="150000"/>
              </a:lnSpc>
            </a:pPr>
            <a:r>
              <a:rPr lang="en-US" b="1" dirty="0">
                <a:latin typeface="Times New Roman" panose="02020603050405020304" pitchFamily="18" charset="0"/>
                <a:ea typeface="Times New Roman" panose="02020603050405020304" pitchFamily="18" charset="0"/>
              </a:rPr>
              <a:t>•	Feature Engineering: </a:t>
            </a:r>
            <a:r>
              <a:rPr lang="en-US" dirty="0">
                <a:latin typeface="Times New Roman" panose="02020603050405020304" pitchFamily="18" charset="0"/>
                <a:ea typeface="Times New Roman" panose="02020603050405020304" pitchFamily="18" charset="0"/>
              </a:rPr>
              <a:t>The study will implement feature engineering to improve data quality, preparing it for machine learning models by transforming and selecting relevant features.</a:t>
            </a:r>
          </a:p>
          <a:p>
            <a:pPr algn="just">
              <a:lnSpc>
                <a:spcPct val="150000"/>
              </a:lnSpc>
            </a:pPr>
            <a:r>
              <a:rPr lang="en-US" b="1" dirty="0">
                <a:latin typeface="Times New Roman" panose="02020603050405020304" pitchFamily="18" charset="0"/>
                <a:ea typeface="Times New Roman" panose="02020603050405020304" pitchFamily="18" charset="0"/>
              </a:rPr>
              <a:t>•	Model Development: </a:t>
            </a:r>
            <a:r>
              <a:rPr lang="en-US" dirty="0">
                <a:latin typeface="Times New Roman" panose="02020603050405020304" pitchFamily="18" charset="0"/>
                <a:ea typeface="Times New Roman" panose="02020603050405020304" pitchFamily="18" charset="0"/>
              </a:rPr>
              <a:t>Various models, including Vanilla LSTM, Stacked LSTM, GRU, RNN, will be built and trained to predict future stock prices.</a:t>
            </a:r>
          </a:p>
          <a:p>
            <a:pPr algn="just">
              <a:lnSpc>
                <a:spcPct val="150000"/>
              </a:lnSpc>
            </a:pPr>
            <a:r>
              <a:rPr lang="en-US" b="1" dirty="0">
                <a:latin typeface="Times New Roman" panose="02020603050405020304" pitchFamily="18" charset="0"/>
                <a:ea typeface="Times New Roman" panose="02020603050405020304" pitchFamily="18" charset="0"/>
              </a:rPr>
              <a:t>•	Model Evaluation: </a:t>
            </a:r>
            <a:r>
              <a:rPr lang="en-US" dirty="0">
                <a:latin typeface="Times New Roman" panose="02020603050405020304" pitchFamily="18" charset="0"/>
                <a:ea typeface="Times New Roman" panose="02020603050405020304" pitchFamily="18" charset="0"/>
              </a:rPr>
              <a:t>Trained models will be tested with 2024 data, using metrics like MSE, MAE, RMSE, and R² Score to assess performance.</a:t>
            </a:r>
          </a:p>
        </p:txBody>
      </p:sp>
    </p:spTree>
    <p:extLst>
      <p:ext uri="{BB962C8B-B14F-4D97-AF65-F5344CB8AC3E}">
        <p14:creationId xmlns:p14="http://schemas.microsoft.com/office/powerpoint/2010/main" val="118482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7165" y="800237"/>
            <a:ext cx="10327341" cy="5078313"/>
          </a:xfrm>
          <a:prstGeom prst="rect">
            <a:avLst/>
          </a:prstGeom>
        </p:spPr>
        <p:txBody>
          <a:bodyPr wrap="square">
            <a:spAutoFit/>
          </a:bodyPr>
          <a:lstStyle/>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Development of Advanced Forecasting Models: </a:t>
            </a:r>
            <a:r>
              <a:rPr lang="en-US" dirty="0">
                <a:latin typeface="Times New Roman" panose="02020603050405020304" pitchFamily="18" charset="0"/>
                <a:cs typeface="Times New Roman" panose="02020603050405020304" pitchFamily="18" charset="0"/>
              </a:rPr>
              <a:t>The project will explore and compare traditional and advanced techniques, including Vanilla LSTM, Stacked LSTM, GRU, RNN, , and , to predict stock prices with a focus on five major banks from the Nifty 50 index.</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Real-World Application in Financial Markets: </a:t>
            </a:r>
            <a:r>
              <a:rPr lang="en-US" dirty="0">
                <a:latin typeface="Times New Roman" panose="02020603050405020304" pitchFamily="18" charset="0"/>
                <a:cs typeface="Times New Roman" panose="02020603050405020304" pitchFamily="18" charset="0"/>
              </a:rPr>
              <a:t>By providing accurate stock price predictions for SBI, HDFC, Axis, ICICI, and </a:t>
            </a:r>
            <a:r>
              <a:rPr lang="en-US" dirty="0" err="1">
                <a:latin typeface="Times New Roman" panose="02020603050405020304" pitchFamily="18" charset="0"/>
                <a:cs typeface="Times New Roman" panose="02020603050405020304" pitchFamily="18" charset="0"/>
              </a:rPr>
              <a:t>IndusInd</a:t>
            </a:r>
            <a:r>
              <a:rPr lang="en-US" dirty="0">
                <a:latin typeface="Times New Roman" panose="02020603050405020304" pitchFamily="18" charset="0"/>
                <a:cs typeface="Times New Roman" panose="02020603050405020304" pitchFamily="18" charset="0"/>
              </a:rPr>
              <a:t> Bank, the project aims to assist investors and financial professionals in making informed investment decisions, minimizing risks, and optimizing strategies.</a:t>
            </a:r>
          </a:p>
          <a:p>
            <a:pPr marL="285750" indent="-285750"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Validation and Contribution to Financial Forecasting: </a:t>
            </a:r>
            <a:r>
              <a:rPr lang="en-US" dirty="0">
                <a:latin typeface="Times New Roman" panose="02020603050405020304" pitchFamily="18" charset="0"/>
                <a:cs typeface="Times New Roman" panose="02020603050405020304" pitchFamily="18" charset="0"/>
              </a:rPr>
              <a:t>The project will validate model predictions against actual market data for the first half of 2024, contributing to the broader field of financial forecasting by demonstrating the effectiveness of advanced data analysis in predicting stock market behavior.</a:t>
            </a:r>
          </a:p>
        </p:txBody>
      </p:sp>
      <p:sp>
        <p:nvSpPr>
          <p:cNvPr id="3" name="Rectangle 2"/>
          <p:cNvSpPr/>
          <p:nvPr/>
        </p:nvSpPr>
        <p:spPr>
          <a:xfrm>
            <a:off x="4438944" y="400127"/>
            <a:ext cx="2502569" cy="400110"/>
          </a:xfrm>
          <a:prstGeom prst="rect">
            <a:avLst/>
          </a:prstGeom>
        </p:spPr>
        <p:txBody>
          <a:bodyPr wrap="square">
            <a:spAutoFit/>
          </a:bodyPr>
          <a:lstStyle/>
          <a:p>
            <a:pPr algn="ct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40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C768881E-EDE6-4BF9-8997-A6BD9655F8C8}"/>
              </a:ext>
            </a:extLst>
          </p:cNvPr>
          <p:cNvSpPr txBox="1">
            <a:spLocks/>
          </p:cNvSpPr>
          <p:nvPr/>
        </p:nvSpPr>
        <p:spPr>
          <a:xfrm>
            <a:off x="921699" y="457200"/>
            <a:ext cx="10515600" cy="543339"/>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LITERATURE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graphicFrame>
        <p:nvGraphicFramePr>
          <p:cNvPr id="2" name="Table 1"/>
          <p:cNvGraphicFramePr>
            <a:graphicFrameLocks noGrp="1"/>
          </p:cNvGraphicFramePr>
          <p:nvPr>
            <p:extLst>
              <p:ext uri="{D42A27DB-BD31-4B8C-83A1-F6EECF244321}">
                <p14:modId xmlns:p14="http://schemas.microsoft.com/office/powerpoint/2010/main" val="3060292203"/>
              </p:ext>
            </p:extLst>
          </p:nvPr>
        </p:nvGraphicFramePr>
        <p:xfrm>
          <a:off x="625864" y="1367254"/>
          <a:ext cx="10811435" cy="4689254"/>
        </p:xfrm>
        <a:graphic>
          <a:graphicData uri="http://schemas.openxmlformats.org/drawingml/2006/table">
            <a:tbl>
              <a:tblPr firstRow="1" firstCol="1" bandRow="1">
                <a:tableStyleId>{5C22544A-7EE6-4342-B048-85BDC9FD1C3A}</a:tableStyleId>
              </a:tblPr>
              <a:tblGrid>
                <a:gridCol w="2052022">
                  <a:extLst>
                    <a:ext uri="{9D8B030D-6E8A-4147-A177-3AD203B41FA5}">
                      <a16:colId xmlns:a16="http://schemas.microsoft.com/office/drawing/2014/main" val="2974457826"/>
                    </a:ext>
                  </a:extLst>
                </a:gridCol>
                <a:gridCol w="1541417">
                  <a:extLst>
                    <a:ext uri="{9D8B030D-6E8A-4147-A177-3AD203B41FA5}">
                      <a16:colId xmlns:a16="http://schemas.microsoft.com/office/drawing/2014/main" val="450402586"/>
                    </a:ext>
                  </a:extLst>
                </a:gridCol>
                <a:gridCol w="3278777">
                  <a:extLst>
                    <a:ext uri="{9D8B030D-6E8A-4147-A177-3AD203B41FA5}">
                      <a16:colId xmlns:a16="http://schemas.microsoft.com/office/drawing/2014/main" val="3911602182"/>
                    </a:ext>
                  </a:extLst>
                </a:gridCol>
                <a:gridCol w="3939219">
                  <a:extLst>
                    <a:ext uri="{9D8B030D-6E8A-4147-A177-3AD203B41FA5}">
                      <a16:colId xmlns:a16="http://schemas.microsoft.com/office/drawing/2014/main" val="2608360148"/>
                    </a:ext>
                  </a:extLst>
                </a:gridCol>
              </a:tblGrid>
              <a:tr h="474773">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Author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Year</a:t>
                      </a: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Title</a:t>
                      </a:r>
                    </a:p>
                    <a:p>
                      <a:pPr marL="0" marR="0" algn="just">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Outcomes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extLst>
                  <a:ext uri="{0D108BD9-81ED-4DB2-BD59-A6C34878D82A}">
                    <a16:rowId xmlns:a16="http://schemas.microsoft.com/office/drawing/2014/main" val="2248046926"/>
                  </a:ext>
                </a:extLst>
              </a:tr>
              <a:tr h="1457448">
                <a:tc>
                  <a:txBody>
                    <a:bodyPr/>
                    <a:lstStyle/>
                    <a:p>
                      <a:pPr lvl="1" algn="ctr">
                        <a:lnSpc>
                          <a:spcPct val="150000"/>
                        </a:lnSpc>
                      </a:pPr>
                      <a:r>
                        <a:rPr lang="fi-FI" sz="1800" b="1" kern="1200" dirty="0">
                          <a:solidFill>
                            <a:schemeClr val="lt1"/>
                          </a:solidFill>
                          <a:effectLst/>
                          <a:latin typeface="Times New Roman" panose="02020603050405020304" pitchFamily="18" charset="0"/>
                          <a:ea typeface="+mn-ea"/>
                          <a:cs typeface="Times New Roman" panose="02020603050405020304" pitchFamily="18" charset="0"/>
                        </a:rPr>
                        <a:t>Diaa Salama Abd Elminaam, et al.</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2024</a:t>
                      </a:r>
                    </a:p>
                    <a:p>
                      <a:pPr marL="0" marR="0" algn="ctr">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algn="ctr" defTabSz="914400" rtl="0" eaLnBrk="1" latinLnBrk="0" hangingPunct="1">
                        <a:lnSpc>
                          <a:spcPct val="150000"/>
                        </a:lnSpc>
                      </a:pPr>
                      <a:r>
                        <a:rPr lang="en-US" sz="1800" kern="1200" dirty="0" err="1">
                          <a:solidFill>
                            <a:schemeClr val="dk1"/>
                          </a:solidFill>
                          <a:latin typeface="Times New Roman" panose="02020603050405020304" pitchFamily="18" charset="0"/>
                          <a:ea typeface="+mn-ea"/>
                          <a:cs typeface="Times New Roman" panose="02020603050405020304" pitchFamily="18" charset="0"/>
                        </a:rPr>
                        <a:t>StockBiLSTM</a:t>
                      </a:r>
                      <a:r>
                        <a:rPr lang="en-US" sz="1800" kern="1200" dirty="0">
                          <a:solidFill>
                            <a:schemeClr val="dk1"/>
                          </a:solidFill>
                          <a:latin typeface="Times New Roman" panose="02020603050405020304" pitchFamily="18" charset="0"/>
                          <a:ea typeface="+mn-ea"/>
                          <a:cs typeface="Times New Roman" panose="02020603050405020304" pitchFamily="18" charset="0"/>
                        </a:rPr>
                        <a:t>: Utilizing an Efficient Deep Learning Approach for Forecasting Stock Market Time Series Data</a:t>
                      </a:r>
                    </a:p>
                  </a:txBody>
                  <a:tcPr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Introduced </a:t>
                      </a:r>
                      <a:r>
                        <a:rPr lang="en-US" sz="1800" dirty="0" err="1">
                          <a:latin typeface="Times New Roman" panose="02020603050405020304" pitchFamily="18" charset="0"/>
                          <a:cs typeface="Times New Roman" panose="02020603050405020304" pitchFamily="18" charset="0"/>
                        </a:rPr>
                        <a:t>StockBiLSTM</a:t>
                      </a:r>
                      <a:r>
                        <a:rPr lang="en-US" sz="1800" dirty="0">
                          <a:latin typeface="Times New Roman" panose="02020603050405020304" pitchFamily="18" charset="0"/>
                          <a:cs typeface="Times New Roman" panose="02020603050405020304" pitchFamily="18" charset="0"/>
                        </a:rPr>
                        <a:t> for efficient stock market forecasting, improving prediction accuracy.</a:t>
                      </a:r>
                    </a:p>
                  </a:txBody>
                  <a:tcPr marL="4969" marR="4969" marT="4969" marB="4969" anchor="ctr"/>
                </a:tc>
                <a:extLst>
                  <a:ext uri="{0D108BD9-81ED-4DB2-BD59-A6C34878D82A}">
                    <a16:rowId xmlns:a16="http://schemas.microsoft.com/office/drawing/2014/main" val="165731776"/>
                  </a:ext>
                </a:extLst>
              </a:tr>
              <a:tr h="2217548">
                <a:tc>
                  <a:txBody>
                    <a:bodyPr/>
                    <a:lstStyle/>
                    <a:p>
                      <a:pPr marL="0" marR="0" algn="ctr">
                        <a:lnSpc>
                          <a:spcPct val="150000"/>
                        </a:lnSpc>
                        <a:spcBef>
                          <a:spcPts val="0"/>
                        </a:spcBef>
                        <a:spcAft>
                          <a:spcPts val="0"/>
                        </a:spcAft>
                      </a:pPr>
                      <a:r>
                        <a:rPr lang="it-IT" sz="1800">
                          <a:latin typeface="Times New Roman" panose="02020603050405020304" pitchFamily="18" charset="0"/>
                          <a:cs typeface="Times New Roman" panose="02020603050405020304" pitchFamily="18" charset="0"/>
                        </a:rPr>
                        <a:t>Kumar, R., Kumar, P., Kumar Y.</a:t>
                      </a:r>
                      <a:endParaRPr lang="it-IT"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2021</a:t>
                      </a:r>
                    </a:p>
                  </a:txBody>
                  <a:tcPr marL="4969" marR="4969" marT="4969" marB="4969" anchor="ctr"/>
                </a:tc>
                <a:tc>
                  <a:txBody>
                    <a:bodyPr/>
                    <a:lstStyle/>
                    <a:p>
                      <a:pPr algn="ctr">
                        <a:lnSpc>
                          <a:spcPct val="150000"/>
                        </a:lnSpc>
                      </a:pPr>
                      <a:r>
                        <a:rPr lang="en-US" sz="1800">
                          <a:latin typeface="Times New Roman" panose="02020603050405020304" pitchFamily="18" charset="0"/>
                          <a:cs typeface="Times New Roman" panose="02020603050405020304" pitchFamily="18" charset="0"/>
                        </a:rPr>
                        <a:t>Analysis of Financial Time Series Forecasting using Deep Learning Model</a:t>
                      </a:r>
                      <a:endParaRPr lang="en-US"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Demonstrated the use of deep learning models to analyze and forecast financial time series data.</a:t>
                      </a:r>
                    </a:p>
                  </a:txBody>
                  <a:tcPr marL="4969" marR="4969" marT="4969" marB="4969" anchor="ctr"/>
                </a:tc>
                <a:extLst>
                  <a:ext uri="{0D108BD9-81ED-4DB2-BD59-A6C34878D82A}">
                    <a16:rowId xmlns:a16="http://schemas.microsoft.com/office/drawing/2014/main" val="2541873342"/>
                  </a:ext>
                </a:extLst>
              </a:tr>
            </a:tbl>
          </a:graphicData>
        </a:graphic>
      </p:graphicFrame>
    </p:spTree>
    <p:extLst>
      <p:ext uri="{BB962C8B-B14F-4D97-AF65-F5344CB8AC3E}">
        <p14:creationId xmlns:p14="http://schemas.microsoft.com/office/powerpoint/2010/main" val="92915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2561375"/>
              </p:ext>
            </p:extLst>
          </p:nvPr>
        </p:nvGraphicFramePr>
        <p:xfrm>
          <a:off x="705393" y="1476104"/>
          <a:ext cx="10737670" cy="4505900"/>
        </p:xfrm>
        <a:graphic>
          <a:graphicData uri="http://schemas.openxmlformats.org/drawingml/2006/table">
            <a:tbl>
              <a:tblPr firstRow="1" firstCol="1" bandRow="1">
                <a:tableStyleId>{5C22544A-7EE6-4342-B048-85BDC9FD1C3A}</a:tableStyleId>
              </a:tblPr>
              <a:tblGrid>
                <a:gridCol w="2197388">
                  <a:extLst>
                    <a:ext uri="{9D8B030D-6E8A-4147-A177-3AD203B41FA5}">
                      <a16:colId xmlns:a16="http://schemas.microsoft.com/office/drawing/2014/main" val="2974457826"/>
                    </a:ext>
                  </a:extLst>
                </a:gridCol>
                <a:gridCol w="1891288">
                  <a:extLst>
                    <a:ext uri="{9D8B030D-6E8A-4147-A177-3AD203B41FA5}">
                      <a16:colId xmlns:a16="http://schemas.microsoft.com/office/drawing/2014/main" val="450402586"/>
                    </a:ext>
                  </a:extLst>
                </a:gridCol>
                <a:gridCol w="2860765">
                  <a:extLst>
                    <a:ext uri="{9D8B030D-6E8A-4147-A177-3AD203B41FA5}">
                      <a16:colId xmlns:a16="http://schemas.microsoft.com/office/drawing/2014/main" val="3911602182"/>
                    </a:ext>
                  </a:extLst>
                </a:gridCol>
                <a:gridCol w="3788229">
                  <a:extLst>
                    <a:ext uri="{9D8B030D-6E8A-4147-A177-3AD203B41FA5}">
                      <a16:colId xmlns:a16="http://schemas.microsoft.com/office/drawing/2014/main" val="2608360148"/>
                    </a:ext>
                  </a:extLst>
                </a:gridCol>
              </a:tblGrid>
              <a:tr h="528473">
                <a:tc>
                  <a:txBody>
                    <a:bodyPr/>
                    <a:lstStyle/>
                    <a:p>
                      <a:pPr marL="0" marR="0" algn="ctr">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Author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Year</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Title</a:t>
                      </a:r>
                    </a:p>
                    <a:p>
                      <a:pPr marL="0" marR="0" algn="ctr">
                        <a:lnSpc>
                          <a:spcPct val="150000"/>
                        </a:lnSpc>
                        <a:spcBef>
                          <a:spcPts val="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Outcomes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69" marR="4969" marT="4969" marB="4969" anchor="ctr"/>
                </a:tc>
                <a:extLst>
                  <a:ext uri="{0D108BD9-81ED-4DB2-BD59-A6C34878D82A}">
                    <a16:rowId xmlns:a16="http://schemas.microsoft.com/office/drawing/2014/main" val="2248046926"/>
                  </a:ext>
                </a:extLst>
              </a:tr>
              <a:tr h="2115696">
                <a:tc>
                  <a:txBody>
                    <a:bodyPr/>
                    <a:lstStyle/>
                    <a:p>
                      <a:pPr lvl="1" algn="ctr">
                        <a:lnSpc>
                          <a:spcPct val="150000"/>
                        </a:lnSpc>
                      </a:pPr>
                      <a:r>
                        <a:rPr lang="en-IN" sz="1800" dirty="0">
                          <a:latin typeface="Times New Roman" panose="02020603050405020304" pitchFamily="18" charset="0"/>
                          <a:cs typeface="Times New Roman" panose="02020603050405020304" pitchFamily="18" charset="0"/>
                        </a:rPr>
                        <a:t>Zhang, K., Zhang G., Dong, J.</a:t>
                      </a: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2019</a:t>
                      </a:r>
                    </a:p>
                  </a:txBody>
                  <a:tcPr marL="4969" marR="4969" marT="4969" marB="4969" anchor="ctr"/>
                </a:tc>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Stock Market Prediction Based on Generative Adversarial Network</a:t>
                      </a: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 effectively models stock market behaviors and enhances prediction accuracy.</a:t>
                      </a:r>
                    </a:p>
                  </a:txBody>
                  <a:tcPr marL="4969" marR="4969" marT="4969" marB="4969" anchor="ctr"/>
                </a:tc>
                <a:extLst>
                  <a:ext uri="{0D108BD9-81ED-4DB2-BD59-A6C34878D82A}">
                    <a16:rowId xmlns:a16="http://schemas.microsoft.com/office/drawing/2014/main" val="165731776"/>
                  </a:ext>
                </a:extLst>
              </a:tr>
              <a:tr h="1562071">
                <a:tc>
                  <a:txBody>
                    <a:bodyPr/>
                    <a:lstStyle/>
                    <a:p>
                      <a:pPr marL="0" marR="0" algn="ctr">
                        <a:lnSpc>
                          <a:spcPct val="150000"/>
                        </a:lnSpc>
                        <a:spcBef>
                          <a:spcPts val="0"/>
                        </a:spcBef>
                        <a:spcAft>
                          <a:spcPts val="0"/>
                        </a:spcAft>
                      </a:pPr>
                      <a:r>
                        <a:rPr lang="nn-NO" sz="1800">
                          <a:latin typeface="Times New Roman" panose="02020603050405020304" pitchFamily="18" charset="0"/>
                          <a:cs typeface="Times New Roman" panose="02020603050405020304" pitchFamily="18" charset="0"/>
                        </a:rPr>
                        <a:t>Fischer, T., &amp; Krauss, C.</a:t>
                      </a:r>
                      <a:endParaRPr lang="nn-NO" sz="1800" dirty="0">
                        <a:latin typeface="Times New Roman" panose="02020603050405020304" pitchFamily="18" charset="0"/>
                        <a:cs typeface="Times New Roman" panose="02020603050405020304" pitchFamily="18" charset="0"/>
                      </a:endParaRPr>
                    </a:p>
                  </a:txBody>
                  <a:tcPr marL="4969" marR="4969" marT="4969" marB="4969" anchor="ctr"/>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2018</a:t>
                      </a:r>
                    </a:p>
                  </a:txBody>
                  <a:tcPr marL="4969" marR="4969" marT="4969" marB="4969" anchor="ctr"/>
                </a:tc>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Deep Learning with Long Short-Term Memory Networks for Financial Market Predictions</a:t>
                      </a:r>
                    </a:p>
                  </a:txBody>
                  <a:tcPr marL="4969" marR="4969" marT="4969" marB="4969" anchor="ctr"/>
                </a:tc>
                <a:tc>
                  <a:txBody>
                    <a:bodyPr/>
                    <a:lstStyle/>
                    <a:p>
                      <a:pPr marL="0" marR="0" algn="ctr">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LSTM networks significantly improve financial market predictions compared to traditional methods.</a:t>
                      </a:r>
                    </a:p>
                  </a:txBody>
                  <a:tcPr marL="4969" marR="4969" marT="4969" marB="4969" anchor="ctr"/>
                </a:tc>
                <a:extLst>
                  <a:ext uri="{0D108BD9-81ED-4DB2-BD59-A6C34878D82A}">
                    <a16:rowId xmlns:a16="http://schemas.microsoft.com/office/drawing/2014/main" val="2541873342"/>
                  </a:ext>
                </a:extLst>
              </a:tr>
            </a:tbl>
          </a:graphicData>
        </a:graphic>
      </p:graphicFrame>
      <p:sp>
        <p:nvSpPr>
          <p:cNvPr id="3" name="Title 2">
            <a:extLst>
              <a:ext uri="{FF2B5EF4-FFF2-40B4-BE49-F238E27FC236}">
                <a16:creationId xmlns:a16="http://schemas.microsoft.com/office/drawing/2014/main" id="{C768881E-EDE6-4BF9-8997-A6BD9655F8C8}"/>
              </a:ext>
            </a:extLst>
          </p:cNvPr>
          <p:cNvSpPr txBox="1">
            <a:spLocks/>
          </p:cNvSpPr>
          <p:nvPr/>
        </p:nvSpPr>
        <p:spPr>
          <a:xfrm>
            <a:off x="921699" y="457200"/>
            <a:ext cx="10515600" cy="543339"/>
          </a:xfrm>
          <a:prstGeom prst="rect">
            <a:avLst/>
          </a:prstGeom>
        </p:spPr>
        <p:txBody>
          <a:bodyP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LITERATURE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spTree>
    <p:extLst>
      <p:ext uri="{BB962C8B-B14F-4D97-AF65-F5344CB8AC3E}">
        <p14:creationId xmlns:p14="http://schemas.microsoft.com/office/powerpoint/2010/main" val="76835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F429721-6F7A-44F4-8A32-2CBA3A706FD4}"/>
              </a:ext>
            </a:extLst>
          </p:cNvPr>
          <p:cNvSpPr/>
          <p:nvPr/>
        </p:nvSpPr>
        <p:spPr>
          <a:xfrm>
            <a:off x="2841659" y="-576825"/>
            <a:ext cx="6302341" cy="1153649"/>
          </a:xfrm>
          <a:prstGeom prst="rect">
            <a:avLst/>
          </a:prstGeom>
        </p:spPr>
        <p:txBody>
          <a:bodyPr wrap="square">
            <a:spAutoFit/>
          </a:bodyPr>
          <a:lstStyle/>
          <a:p>
            <a:pPr algn="just">
              <a:lnSpc>
                <a:spcPct val="20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2800" b="1" dirty="0">
                <a:latin typeface="Times New Roman" panose="02020603050405020304" pitchFamily="18" charset="0"/>
                <a:cs typeface="Times New Roman" panose="02020603050405020304" pitchFamily="18" charset="0"/>
              </a:rPr>
              <a:t>Significant</a:t>
            </a:r>
          </a:p>
        </p:txBody>
      </p:sp>
      <p:sp>
        <p:nvSpPr>
          <p:cNvPr id="2" name="Rectangle 1"/>
          <p:cNvSpPr>
            <a:spLocks noChangeArrowheads="1"/>
          </p:cNvSpPr>
          <p:nvPr/>
        </p:nvSpPr>
        <p:spPr bwMode="auto">
          <a:xfrm>
            <a:off x="1050075" y="950828"/>
            <a:ext cx="10092542"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Predictive Accuracy: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leverages a range of traditional and advanced models to identify the best method for forecasting banking stock prices, enhancing prediction reliability.</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for Informed Decision-Making: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stock price predictions help investors and financial professionals reduce risks and optimize investment strategies.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Market Behavior: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Analyzing historical data uncovers trends in stock movements, aiding in better anticipation of market shifts.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Financial Forecasting: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highlights the potential of advanced AI and machine learning models in improving stock market predictions.</a:t>
            </a:r>
          </a:p>
        </p:txBody>
      </p:sp>
    </p:spTree>
    <p:extLst>
      <p:ext uri="{BB962C8B-B14F-4D97-AF65-F5344CB8AC3E}">
        <p14:creationId xmlns:p14="http://schemas.microsoft.com/office/powerpoint/2010/main" val="79720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0517" y="957025"/>
            <a:ext cx="9779038" cy="3610219"/>
          </a:xfrm>
          <a:prstGeom prst="rect">
            <a:avLst/>
          </a:prstGeom>
        </p:spPr>
        <p:txBody>
          <a:bodyPr wrap="square">
            <a:spAutoFit/>
          </a:bodyPr>
          <a:lstStyle/>
          <a:p>
            <a:pPr algn="ctr">
              <a:lnSpc>
                <a:spcPct val="150000"/>
              </a:lnSpc>
              <a:spcAft>
                <a:spcPts val="1875"/>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Proposed System:</a:t>
            </a:r>
          </a:p>
          <a:p>
            <a:pPr algn="just">
              <a:lnSpc>
                <a:spcPct val="150000"/>
              </a:lnSpc>
              <a:spcAft>
                <a:spcPts val="1875"/>
              </a:spcAft>
            </a:pPr>
            <a:r>
              <a:rPr lang="en-US" dirty="0">
                <a:latin typeface="Times New Roman" panose="02020603050405020304" pitchFamily="18" charset="0"/>
                <a:cs typeface="Times New Roman" panose="02020603050405020304" pitchFamily="18" charset="0"/>
              </a:rPr>
              <a:t>The proposed system aims to develop a robust stock price prediction model by utilizing a variety of machine learning techniques, including Vanilla LSTM, Stacked LSTM, GRU, RNN and  It focuses on forecasting the stock prices of five prominent banking institutions from the Nifty 50 index—SBI, HDFC, Axis, ICICI, and IndusInd Bank—using five years of historical market data. The system will generate predictions for the first half of 2024 and compare them with actual stock prices to validate model accuracy. The ultimate goal is to create a reliable model that supports better financial decision-making and investment strategies.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212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2535" y="212378"/>
            <a:ext cx="1433085"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Architecture</a:t>
            </a:r>
            <a:endParaRPr lang="en-US" dirty="0"/>
          </a:p>
        </p:txBody>
      </p:sp>
      <p:pic>
        <p:nvPicPr>
          <p:cNvPr id="5" name="Picture 4">
            <a:extLst>
              <a:ext uri="{FF2B5EF4-FFF2-40B4-BE49-F238E27FC236}">
                <a16:creationId xmlns:a16="http://schemas.microsoft.com/office/drawing/2014/main" id="{AF48132A-687F-44B5-A964-ED637214008B}"/>
              </a:ext>
            </a:extLst>
          </p:cNvPr>
          <p:cNvPicPr>
            <a:picLocks noChangeAspect="1"/>
          </p:cNvPicPr>
          <p:nvPr/>
        </p:nvPicPr>
        <p:blipFill>
          <a:blip r:embed="rId2"/>
          <a:stretch>
            <a:fillRect/>
          </a:stretch>
        </p:blipFill>
        <p:spPr>
          <a:xfrm>
            <a:off x="4436380" y="581710"/>
            <a:ext cx="2813975" cy="6158753"/>
          </a:xfrm>
          <a:prstGeom prst="rect">
            <a:avLst/>
          </a:prstGeom>
        </p:spPr>
      </p:pic>
    </p:spTree>
    <p:extLst>
      <p:ext uri="{BB962C8B-B14F-4D97-AF65-F5344CB8AC3E}">
        <p14:creationId xmlns:p14="http://schemas.microsoft.com/office/powerpoint/2010/main" val="1468437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65;p32"/>
          <p:cNvSpPr txBox="1">
            <a:spLocks/>
          </p:cNvSpPr>
          <p:nvPr/>
        </p:nvSpPr>
        <p:spPr>
          <a:xfrm>
            <a:off x="2489988" y="316010"/>
            <a:ext cx="7713900" cy="710700"/>
          </a:xfrm>
          <a:prstGeom prst="rect">
            <a:avLst/>
          </a:prstGeom>
          <a:ln>
            <a:noFill/>
          </a:ln>
        </p:spPr>
        <p:txBody>
          <a:bodyPr spcFirstLastPara="1" wrap="square" lIns="91425" tIns="91425" rIns="91425" bIns="91425" anchor="t" anchorCtr="0">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4"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5"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Hardware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6" name="Google Shape;868;p32"/>
          <p:cNvSpPr txBox="1"/>
          <p:nvPr/>
        </p:nvSpPr>
        <p:spPr>
          <a:xfrm>
            <a:off x="4463687" y="1821075"/>
            <a:ext cx="4854483" cy="713366"/>
          </a:xfrm>
          <a:prstGeom prst="rect">
            <a:avLst/>
          </a:prstGeom>
          <a:noFill/>
          <a:ln>
            <a:noFill/>
          </a:ln>
        </p:spPr>
        <p:txBody>
          <a:bodyPr spcFirstLastPara="1" wrap="square" lIns="91425" tIns="91425" rIns="91425" bIns="91425" anchor="t" anchorCtr="0">
            <a:noAutofit/>
          </a:bodyPr>
          <a:lstStyle/>
          <a:p>
            <a:pPr lvl="0"/>
            <a:r>
              <a:rPr lang="en-GB" sz="800" b="1"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7"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solidFill>
                  <a:schemeClr val="dk1"/>
                </a:solidFill>
                <a:latin typeface="Poppins Black" panose="00000800000000000000"/>
                <a:ea typeface="Poppins Black" panose="00000800000000000000"/>
                <a:cs typeface="Poppins Black" panose="00000800000000000000"/>
                <a:sym typeface="Poppins Black" panose="00000800000000000000"/>
              </a:rPr>
              <a:t>Resources</a:t>
            </a:r>
            <a:endParaRPr sz="20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Software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10" name="Google Shape;872;p32"/>
          <p:cNvSpPr txBox="1"/>
          <p:nvPr/>
        </p:nvSpPr>
        <p:spPr>
          <a:xfrm>
            <a:off x="4463688" y="2779550"/>
            <a:ext cx="4041512" cy="60785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b="1" dirty="0" err="1">
                <a:latin typeface="Times New Roman" panose="02020603050405020304" pitchFamily="18" charset="0"/>
                <a:cs typeface="Times New Roman" panose="02020603050405020304" pitchFamily="18" charset="0"/>
              </a:rPr>
              <a:t>Colab</a:t>
            </a:r>
            <a:r>
              <a:rPr lang="en-US" sz="800" dirty="0">
                <a:latin typeface="Times New Roman" panose="02020603050405020304" pitchFamily="18" charset="0"/>
                <a:cs typeface="Times New Roman" panose="02020603050405020304" pitchFamily="18" charset="0"/>
              </a:rPr>
              <a:t>)</a:t>
            </a:r>
            <a:endParaRPr lang="en-IN" sz="800" dirty="0">
              <a:latin typeface="Times New Roman" panose="02020603050405020304" pitchFamily="18" charset="0"/>
              <a:cs typeface="Times New Roman" panose="02020603050405020304" pitchFamily="18" charset="0"/>
            </a:endParaRPr>
          </a:p>
        </p:txBody>
      </p:sp>
      <p:sp>
        <p:nvSpPr>
          <p:cNvPr id="11"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dirty="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12" name="Google Shape;874;p32"/>
          <p:cNvSpPr txBox="1"/>
          <p:nvPr/>
        </p:nvSpPr>
        <p:spPr>
          <a:xfrm>
            <a:off x="4463688" y="3369925"/>
            <a:ext cx="4288426" cy="399675"/>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solidFill>
                  <a:schemeClr val="dk1"/>
                </a:solidFill>
                <a:latin typeface="Poppins Black" panose="00000800000000000000"/>
                <a:ea typeface="Poppins Black" panose="00000800000000000000"/>
                <a:cs typeface="Poppins Black" panose="00000800000000000000"/>
                <a:sym typeface="Poppins Black" panose="00000800000000000000"/>
              </a:rPr>
              <a:t>Packages/Libraries</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13"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(Pandas,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Scikit-learn, Yahoo Finance(</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yfinance</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keras</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4"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878;p32"/>
          <p:cNvCxnSpPr>
            <a:stCxn id="7" idx="3"/>
            <a:endCxn id="4"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16" name="Google Shape;879;p32"/>
          <p:cNvCxnSpPr>
            <a:stCxn id="7" idx="3"/>
            <a:endCxn id="8"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17" name="Google Shape;880;p32"/>
          <p:cNvCxnSpPr>
            <a:stCxn id="7" idx="3"/>
            <a:endCxn id="11"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Tree>
    <p:extLst>
      <p:ext uri="{BB962C8B-B14F-4D97-AF65-F5344CB8AC3E}">
        <p14:creationId xmlns:p14="http://schemas.microsoft.com/office/powerpoint/2010/main" val="54471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65468" y="182336"/>
            <a:ext cx="241187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Research Gap analysis</a:t>
            </a:r>
            <a:endParaRPr lang="en-IN" dirty="0"/>
          </a:p>
        </p:txBody>
      </p:sp>
      <p:sp>
        <p:nvSpPr>
          <p:cNvPr id="3" name="Rectangle 2"/>
          <p:cNvSpPr/>
          <p:nvPr/>
        </p:nvSpPr>
        <p:spPr>
          <a:xfrm>
            <a:off x="829491" y="766354"/>
            <a:ext cx="11083835" cy="46130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Use of Advanced Models: </a:t>
            </a:r>
            <a:r>
              <a:rPr lang="en-US" dirty="0">
                <a:latin typeface="Times New Roman" panose="02020603050405020304" pitchFamily="18" charset="0"/>
                <a:cs typeface="Times New Roman" panose="02020603050405020304" pitchFamily="18" charset="0"/>
              </a:rPr>
              <a:t>While traditional models like RNNs are often used in stock price prediction, the application of more advanced models such as s and s remains underexplored in this domain, especially for banking stocks.</a:t>
            </a:r>
          </a:p>
          <a:p>
            <a:pPr algn="just">
              <a:lnSpc>
                <a:spcPct val="150000"/>
              </a:lnSpc>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Sector-Specific Forecasting: </a:t>
            </a:r>
            <a:r>
              <a:rPr lang="en-US" dirty="0">
                <a:latin typeface="Times New Roman" panose="02020603050405020304" pitchFamily="18" charset="0"/>
                <a:cs typeface="Times New Roman" panose="02020603050405020304" pitchFamily="18" charset="0"/>
              </a:rPr>
              <a:t>Most existing studies focus on broad stock indices or general sectors. There is a gap in focused research on predicting stock prices for the banking sector, particularly in the context of Indian banks listed under Nifty 50.</a:t>
            </a:r>
          </a:p>
          <a:p>
            <a:pPr algn="just">
              <a:lnSpc>
                <a:spcPct val="150000"/>
              </a:lnSpc>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Short-Term Prediction Accuracy: </a:t>
            </a:r>
            <a:r>
              <a:rPr lang="en-US" dirty="0">
                <a:latin typeface="Times New Roman" panose="02020603050405020304" pitchFamily="18" charset="0"/>
                <a:cs typeface="Times New Roman" panose="02020603050405020304" pitchFamily="18" charset="0"/>
              </a:rPr>
              <a:t>Many models struggle with short-term prediction accuracy due to the volatile nature of the stock market, indicating the need for more refined techniques and comparative studies to enhance performance.</a:t>
            </a:r>
          </a:p>
        </p:txBody>
      </p:sp>
    </p:spTree>
    <p:extLst>
      <p:ext uri="{BB962C8B-B14F-4D97-AF65-F5344CB8AC3E}">
        <p14:creationId xmlns:p14="http://schemas.microsoft.com/office/powerpoint/2010/main" val="120234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7;p36"/>
          <p:cNvSpPr txBox="1">
            <a:spLocks/>
          </p:cNvSpPr>
          <p:nvPr/>
        </p:nvSpPr>
        <p:spPr>
          <a:xfrm>
            <a:off x="3021300" y="406198"/>
            <a:ext cx="7713900" cy="710700"/>
          </a:xfrm>
          <a:prstGeom prst="rect">
            <a:avLst/>
          </a:prstGeom>
          <a:ln>
            <a:noFill/>
          </a:ln>
        </p:spPr>
        <p:txBody>
          <a:bodyPr spcFirstLastPara="1" wrap="square" lIns="91425" tIns="91425" rIns="91425" bIns="91425" anchor="t" anchorCtr="0">
            <a:no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Implementation</a:t>
            </a:r>
          </a:p>
        </p:txBody>
      </p:sp>
      <p:sp>
        <p:nvSpPr>
          <p:cNvPr id="3"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4"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7" name="Google Shape;1172;p36"/>
          <p:cNvSpPr txBox="1"/>
          <p:nvPr/>
        </p:nvSpPr>
        <p:spPr>
          <a:xfrm>
            <a:off x="2186422" y="3914746"/>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 name="Google Shape;1173;p36"/>
          <p:cNvSpPr/>
          <p:nvPr/>
        </p:nvSpPr>
        <p:spPr>
          <a:xfrm>
            <a:off x="2930511" y="29161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1174;p36"/>
          <p:cNvSpPr txBox="1"/>
          <p:nvPr/>
        </p:nvSpPr>
        <p:spPr>
          <a:xfrm>
            <a:off x="6895961" y="1731118"/>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0" name="Google Shape;1175;p36"/>
          <p:cNvSpPr/>
          <p:nvPr/>
        </p:nvSpPr>
        <p:spPr>
          <a:xfrm>
            <a:off x="5998476" y="1722517"/>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 name="Google Shape;1176;p36"/>
          <p:cNvSpPr txBox="1"/>
          <p:nvPr/>
        </p:nvSpPr>
        <p:spPr>
          <a:xfrm>
            <a:off x="5298896" y="3027440"/>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2" name="Google Shape;1177;p36"/>
          <p:cNvSpPr/>
          <p:nvPr/>
        </p:nvSpPr>
        <p:spPr>
          <a:xfrm>
            <a:off x="7559040" y="29161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3" name="Google Shape;1178;p36"/>
          <p:cNvSpPr txBox="1"/>
          <p:nvPr/>
        </p:nvSpPr>
        <p:spPr>
          <a:xfrm>
            <a:off x="7296086" y="4572186"/>
            <a:ext cx="2474100" cy="764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4" name="Google Shape;1179;p36"/>
          <p:cNvSpPr/>
          <p:nvPr/>
        </p:nvSpPr>
        <p:spPr>
          <a:xfrm>
            <a:off x="5998476" y="467360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dirty="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5" name="Google Shape;1180;p36"/>
          <p:cNvCxnSpPr>
            <a:stCxn id="4" idx="4"/>
          </p:cNvCxnSpPr>
          <p:nvPr/>
        </p:nvCxnSpPr>
        <p:spPr>
          <a:xfrm>
            <a:off x="1410900" y="2242775"/>
            <a:ext cx="1992600" cy="673350"/>
          </a:xfrm>
          <a:prstGeom prst="straightConnector1">
            <a:avLst/>
          </a:prstGeom>
          <a:noFill/>
          <a:ln w="19050" cap="flat" cmpd="sng">
            <a:solidFill>
              <a:schemeClr val="accent5"/>
            </a:solidFill>
            <a:prstDash val="dot"/>
            <a:round/>
            <a:headEnd type="none" w="med" len="med"/>
            <a:tailEnd type="none" w="med" len="med"/>
          </a:ln>
        </p:spPr>
      </p:cxnSp>
      <p:cxnSp>
        <p:nvCxnSpPr>
          <p:cNvPr id="16" name="Google Shape;1181;p36"/>
          <p:cNvCxnSpPr>
            <a:stCxn id="10" idx="2"/>
            <a:endCxn id="8" idx="0"/>
          </p:cNvCxnSpPr>
          <p:nvPr/>
        </p:nvCxnSpPr>
        <p:spPr>
          <a:xfrm flipH="1">
            <a:off x="3312711" y="2104717"/>
            <a:ext cx="2685765" cy="811408"/>
          </a:xfrm>
          <a:prstGeom prst="straightConnector1">
            <a:avLst/>
          </a:prstGeom>
          <a:noFill/>
          <a:ln w="19050" cap="flat" cmpd="sng">
            <a:solidFill>
              <a:schemeClr val="accent5"/>
            </a:solidFill>
            <a:prstDash val="dot"/>
            <a:round/>
            <a:headEnd type="none" w="med" len="med"/>
            <a:tailEnd type="none" w="med" len="med"/>
          </a:ln>
        </p:spPr>
      </p:cxnSp>
      <p:cxnSp>
        <p:nvCxnSpPr>
          <p:cNvPr id="17" name="Google Shape;1182;p36"/>
          <p:cNvCxnSpPr>
            <a:stCxn id="12" idx="0"/>
            <a:endCxn id="10" idx="6"/>
          </p:cNvCxnSpPr>
          <p:nvPr/>
        </p:nvCxnSpPr>
        <p:spPr>
          <a:xfrm flipH="1" flipV="1">
            <a:off x="6762876" y="2104717"/>
            <a:ext cx="1178364" cy="811408"/>
          </a:xfrm>
          <a:prstGeom prst="straightConnector1">
            <a:avLst/>
          </a:prstGeom>
          <a:noFill/>
          <a:ln w="19050" cap="flat" cmpd="sng">
            <a:solidFill>
              <a:schemeClr val="accent5"/>
            </a:solidFill>
            <a:prstDash val="dot"/>
            <a:round/>
            <a:headEnd type="none" w="med" len="med"/>
            <a:tailEnd type="none" w="med" len="med"/>
          </a:ln>
        </p:spPr>
      </p:cxnSp>
      <p:cxnSp>
        <p:nvCxnSpPr>
          <p:cNvPr id="18" name="Google Shape;1183;p36"/>
          <p:cNvCxnSpPr>
            <a:stCxn id="14" idx="7"/>
            <a:endCxn id="12" idx="4"/>
          </p:cNvCxnSpPr>
          <p:nvPr/>
        </p:nvCxnSpPr>
        <p:spPr>
          <a:xfrm flipV="1">
            <a:off x="6650932" y="3680525"/>
            <a:ext cx="1290308" cy="1105024"/>
          </a:xfrm>
          <a:prstGeom prst="straightConnector1">
            <a:avLst/>
          </a:prstGeom>
          <a:noFill/>
          <a:ln w="19050" cap="flat" cmpd="sng">
            <a:solidFill>
              <a:schemeClr val="accent5"/>
            </a:solidFill>
            <a:prstDash val="dot"/>
            <a:round/>
            <a:headEnd type="none" w="med" len="med"/>
            <a:tailEnd type="none" w="med" len="med"/>
          </a:ln>
        </p:spPr>
      </p:cxnSp>
      <p:sp>
        <p:nvSpPr>
          <p:cNvPr id="19" name="TextBox 18"/>
          <p:cNvSpPr txBox="1"/>
          <p:nvPr/>
        </p:nvSpPr>
        <p:spPr>
          <a:xfrm>
            <a:off x="6380676" y="937495"/>
            <a:ext cx="2854293" cy="369332"/>
          </a:xfrm>
          <a:prstGeom prst="rect">
            <a:avLst/>
          </a:prstGeom>
          <a:noFill/>
        </p:spPr>
        <p:txBody>
          <a:bodyPr wrap="square" rtlCol="0">
            <a:spAutoFit/>
          </a:bodyPr>
          <a:lstStyle/>
          <a:p>
            <a:pPr algn="ctr"/>
            <a:r>
              <a:rPr lang="en-US" b="1" dirty="0">
                <a:solidFill>
                  <a:schemeClr val="accent4"/>
                </a:solidFill>
                <a:latin typeface="Times New Roman" panose="02020603050405020304" pitchFamily="18" charset="0"/>
                <a:cs typeface="Times New Roman" panose="02020603050405020304" pitchFamily="18" charset="0"/>
              </a:rPr>
              <a:t>Model Implementation</a:t>
            </a:r>
            <a:endParaRPr lang="en-IN" b="1" dirty="0">
              <a:solidFill>
                <a:schemeClr val="accent4"/>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1553970" y="786080"/>
            <a:ext cx="1537665" cy="458074"/>
          </a:xfrm>
          <a:prstGeom prst="rect">
            <a:avLst/>
          </a:prstGeom>
        </p:spPr>
        <p:txBody>
          <a:bodyPr wrap="none">
            <a:spAutoFit/>
          </a:bodyPr>
          <a:lstStyle/>
          <a:p>
            <a:pPr algn="ctr">
              <a:lnSpc>
                <a:spcPct val="150000"/>
              </a:lnSpc>
            </a:pPr>
            <a:r>
              <a:rPr lang="en-US" b="1" dirty="0">
                <a:solidFill>
                  <a:schemeClr val="accent4"/>
                </a:solidFill>
                <a:latin typeface="Times New Roman" panose="02020603050405020304" pitchFamily="18" charset="0"/>
                <a:cs typeface="Times New Roman" panose="02020603050405020304" pitchFamily="18" charset="0"/>
              </a:rPr>
              <a:t>Data Analysis</a:t>
            </a:r>
          </a:p>
        </p:txBody>
      </p:sp>
    </p:spTree>
    <p:extLst>
      <p:ext uri="{BB962C8B-B14F-4D97-AF65-F5344CB8AC3E}">
        <p14:creationId xmlns:p14="http://schemas.microsoft.com/office/powerpoint/2010/main" val="2916938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1858201"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lang="en-IN" dirty="0"/>
          </a:p>
        </p:txBody>
      </p:sp>
      <p:sp>
        <p:nvSpPr>
          <p:cNvPr id="4" name="Rectangle 2"/>
          <p:cNvSpPr>
            <a:spLocks noChangeArrowheads="1"/>
          </p:cNvSpPr>
          <p:nvPr/>
        </p:nvSpPr>
        <p:spPr bwMode="auto">
          <a:xfrm>
            <a:off x="1288676" y="792433"/>
            <a:ext cx="9614648"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Stock Data Source: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includes historical stock data from five major Indian banks (SBI, HDFC, Axis, ICICI, and IndusInd) listed on NSE, collected via Yahoo Finance API from January 1, 2019, to June 30, 2024.</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Closing Prices: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centers on the closing price of each stock, an essential indicator used in financial performance measurement, technical analysis, and stock price prediction.</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Chronological Analysis: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entry is timestamped with the trading date, allowing for the examination of trends, patterns, and stock performance over time.</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Modeling Input: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is designed for time-series forecasting and machine learning analysis, providing a streamlined, focused approach for stock price prediction.</a:t>
            </a:r>
          </a:p>
        </p:txBody>
      </p:sp>
    </p:spTree>
    <p:extLst>
      <p:ext uri="{BB962C8B-B14F-4D97-AF65-F5344CB8AC3E}">
        <p14:creationId xmlns:p14="http://schemas.microsoft.com/office/powerpoint/2010/main" val="376120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pic>
        <p:nvPicPr>
          <p:cNvPr id="2" name="Picture 1">
            <a:extLst>
              <a:ext uri="{FF2B5EF4-FFF2-40B4-BE49-F238E27FC236}">
                <a16:creationId xmlns:a16="http://schemas.microsoft.com/office/drawing/2014/main" id="{C013BACE-72CD-BC30-65BE-5B0A182BF07D}"/>
              </a:ext>
            </a:extLst>
          </p:cNvPr>
          <p:cNvPicPr>
            <a:picLocks noChangeAspect="1"/>
          </p:cNvPicPr>
          <p:nvPr/>
        </p:nvPicPr>
        <p:blipFill>
          <a:blip r:embed="rId2"/>
          <a:stretch>
            <a:fillRect/>
          </a:stretch>
        </p:blipFill>
        <p:spPr>
          <a:xfrm>
            <a:off x="327785" y="666266"/>
            <a:ext cx="5376758" cy="2762734"/>
          </a:xfrm>
          <a:prstGeom prst="rect">
            <a:avLst/>
          </a:prstGeom>
        </p:spPr>
      </p:pic>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closing prices of top 5 Indian banks from 2019 to 2024, highlighting a sharp decline in early 2020 due to the COVID-19 pandemic, followed by a recovery trend. ICICI and IndusInd Bank display the most volatility and growth, while HDFC Bank shows a steady upward trend, with stock prices stabilizing by 2024.</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5505EED-0777-7081-5C11-16B5C5F761CF}"/>
              </a:ext>
            </a:extLst>
          </p:cNvPr>
          <p:cNvPicPr>
            <a:picLocks noChangeAspect="1"/>
          </p:cNvPicPr>
          <p:nvPr/>
        </p:nvPicPr>
        <p:blipFill>
          <a:blip r:embed="rId3"/>
          <a:stretch>
            <a:fillRect/>
          </a:stretch>
        </p:blipFill>
        <p:spPr>
          <a:xfrm>
            <a:off x="364490" y="3810484"/>
            <a:ext cx="5376758" cy="2381250"/>
          </a:xfrm>
          <a:prstGeom prst="rect">
            <a:avLst/>
          </a:prstGeom>
        </p:spPr>
      </p:pic>
      <p:sp>
        <p:nvSpPr>
          <p:cNvPr id="13" name="TextBox 12">
            <a:extLst>
              <a:ext uri="{FF2B5EF4-FFF2-40B4-BE49-F238E27FC236}">
                <a16:creationId xmlns:a16="http://schemas.microsoft.com/office/drawing/2014/main" id="{81D71A77-0450-4680-8098-C43172ADEE25}"/>
              </a:ext>
            </a:extLst>
          </p:cNvPr>
          <p:cNvSpPr txBox="1"/>
          <p:nvPr/>
        </p:nvSpPr>
        <p:spPr>
          <a:xfrm>
            <a:off x="5999715" y="3525577"/>
            <a:ext cx="5827795" cy="295106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50-day moving averages of SBI, HDFC Bank, Axis Bank, ICICI Bank, and IndusInd Bank from 2019 to 2024. After a dip in early 2020 due to COVID-19, all banks show recovery, with ICICI Bank leading in performance, IndusInd Bank displaying volatility, and HDFC Bank maintaining steady growth. By 2024, all banks exhibit stable upward trends, reflecting sector growth.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256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50-day volatility of SBI, HDFC, Axis, ICICI, and IndusInd Bank from 2019 to 2024. A spike in early 2020 due to COVID-19 was followed by a steady decrease, stabilizing by mid-2021. A slight uptick in volatility is seen toward the end, particularly in SBI.</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99715" y="3641328"/>
            <a:ext cx="5827795"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graph shows the log returns of SBI, HDFC Bank, Axis Bank, ICICI Bank, and IndusInd Bank from 2019 to 2024, highlighting significant volatility in early 2020 due to COVID-19, especially for IndusInd Bank. Post-2020, log returns stabilize, indicating more consistent performance across all banks.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4DD498F-49E2-1A37-BD53-A9B7EE7F6A15}"/>
              </a:ext>
            </a:extLst>
          </p:cNvPr>
          <p:cNvPicPr>
            <a:picLocks noChangeAspect="1"/>
          </p:cNvPicPr>
          <p:nvPr/>
        </p:nvPicPr>
        <p:blipFill>
          <a:blip r:embed="rId2"/>
          <a:stretch>
            <a:fillRect/>
          </a:stretch>
        </p:blipFill>
        <p:spPr>
          <a:xfrm>
            <a:off x="364490" y="581660"/>
            <a:ext cx="5376758" cy="2847340"/>
          </a:xfrm>
          <a:prstGeom prst="rect">
            <a:avLst/>
          </a:prstGeom>
        </p:spPr>
      </p:pic>
      <p:pic>
        <p:nvPicPr>
          <p:cNvPr id="5" name="Picture 4">
            <a:extLst>
              <a:ext uri="{FF2B5EF4-FFF2-40B4-BE49-F238E27FC236}">
                <a16:creationId xmlns:a16="http://schemas.microsoft.com/office/drawing/2014/main" id="{660AD8D2-8810-C75C-725F-EE986D708D09}"/>
              </a:ext>
            </a:extLst>
          </p:cNvPr>
          <p:cNvPicPr>
            <a:picLocks noChangeAspect="1"/>
          </p:cNvPicPr>
          <p:nvPr/>
        </p:nvPicPr>
        <p:blipFill>
          <a:blip r:embed="rId3"/>
          <a:stretch>
            <a:fillRect/>
          </a:stretch>
        </p:blipFill>
        <p:spPr>
          <a:xfrm>
            <a:off x="364490" y="3641328"/>
            <a:ext cx="5376758" cy="2771775"/>
          </a:xfrm>
          <a:prstGeom prst="rect">
            <a:avLst/>
          </a:prstGeom>
        </p:spPr>
      </p:pic>
    </p:spTree>
    <p:extLst>
      <p:ext uri="{BB962C8B-B14F-4D97-AF65-F5344CB8AC3E}">
        <p14:creationId xmlns:p14="http://schemas.microsoft.com/office/powerpoint/2010/main" val="4002051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compares the percentage price changes of SBIN.NS on Fridays and Mondays. Fridays show generally positive price changes with fewer outliers, indicating stability, while Mondays exhibit greater variability and extreme outliers, suggesting unpredictable movements after the weekend.</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36616" y="3553310"/>
            <a:ext cx="5827795" cy="295106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compares the percentage price changes of HDFCBANK.NS on Fridays and Mondays, illustrating the weekend effect. Fridays show generally positive price changes with some outliers, while Mondays exhibit greater volatility and more extreme outliers. Both days have a positive median, but Mondays are more unpredictable, likely due to weekend market reactions..</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19E54B8-87F4-2EF8-BC58-B3FC6CBB7427}"/>
              </a:ext>
            </a:extLst>
          </p:cNvPr>
          <p:cNvPicPr>
            <a:picLocks noChangeAspect="1"/>
          </p:cNvPicPr>
          <p:nvPr/>
        </p:nvPicPr>
        <p:blipFill>
          <a:blip r:embed="rId2"/>
          <a:stretch>
            <a:fillRect/>
          </a:stretch>
        </p:blipFill>
        <p:spPr>
          <a:xfrm>
            <a:off x="427589" y="666266"/>
            <a:ext cx="5313659" cy="2638425"/>
          </a:xfrm>
          <a:prstGeom prst="rect">
            <a:avLst/>
          </a:prstGeom>
        </p:spPr>
      </p:pic>
      <p:pic>
        <p:nvPicPr>
          <p:cNvPr id="6" name="Picture 5">
            <a:extLst>
              <a:ext uri="{FF2B5EF4-FFF2-40B4-BE49-F238E27FC236}">
                <a16:creationId xmlns:a16="http://schemas.microsoft.com/office/drawing/2014/main" id="{25C734CA-C29A-543A-468C-1CA3AF657E1C}"/>
              </a:ext>
            </a:extLst>
          </p:cNvPr>
          <p:cNvPicPr>
            <a:picLocks noChangeAspect="1"/>
          </p:cNvPicPr>
          <p:nvPr/>
        </p:nvPicPr>
        <p:blipFill>
          <a:blip r:embed="rId3"/>
          <a:stretch>
            <a:fillRect/>
          </a:stretch>
        </p:blipFill>
        <p:spPr>
          <a:xfrm>
            <a:off x="501771" y="3553310"/>
            <a:ext cx="5239477" cy="2657475"/>
          </a:xfrm>
          <a:prstGeom prst="rect">
            <a:avLst/>
          </a:prstGeom>
        </p:spPr>
      </p:pic>
    </p:spTree>
    <p:extLst>
      <p:ext uri="{BB962C8B-B14F-4D97-AF65-F5344CB8AC3E}">
        <p14:creationId xmlns:p14="http://schemas.microsoft.com/office/powerpoint/2010/main" val="162806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reveals that AXISBANK.NS experiences greater volatility and more extreme price changes, especially negative, on Mondays compared to Fridays. Fridays show relatively more stability, with fewer extreme movements.</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1D71A77-0450-4680-8098-C43172ADEE25}"/>
              </a:ext>
            </a:extLst>
          </p:cNvPr>
          <p:cNvSpPr txBox="1"/>
          <p:nvPr/>
        </p:nvSpPr>
        <p:spPr>
          <a:xfrm>
            <a:off x="5936616" y="3553310"/>
            <a:ext cx="5827795"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shows that ICICIBANK.NS experiences greater volatility and more extreme positive price changes on Mondays compared to Fridays. Fridays exhibit more stable price movements with fewer extremes, indicating lower volatility before the weekend.</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E388798-A61D-A7F9-87DD-FBDB66B77E57}"/>
              </a:ext>
            </a:extLst>
          </p:cNvPr>
          <p:cNvPicPr>
            <a:picLocks noChangeAspect="1"/>
          </p:cNvPicPr>
          <p:nvPr/>
        </p:nvPicPr>
        <p:blipFill>
          <a:blip r:embed="rId2"/>
          <a:stretch>
            <a:fillRect/>
          </a:stretch>
        </p:blipFill>
        <p:spPr>
          <a:xfrm>
            <a:off x="538473" y="666266"/>
            <a:ext cx="5202775" cy="2535566"/>
          </a:xfrm>
          <a:prstGeom prst="rect">
            <a:avLst/>
          </a:prstGeom>
        </p:spPr>
      </p:pic>
      <p:pic>
        <p:nvPicPr>
          <p:cNvPr id="7" name="Picture 6"/>
          <p:cNvPicPr/>
          <p:nvPr/>
        </p:nvPicPr>
        <p:blipFill>
          <a:blip r:embed="rId3"/>
          <a:stretch>
            <a:fillRect/>
          </a:stretch>
        </p:blipFill>
        <p:spPr>
          <a:xfrm>
            <a:off x="364490" y="3498766"/>
            <a:ext cx="5376758" cy="2592908"/>
          </a:xfrm>
          <a:prstGeom prst="rect">
            <a:avLst/>
          </a:prstGeom>
        </p:spPr>
      </p:pic>
    </p:spTree>
    <p:extLst>
      <p:ext uri="{BB962C8B-B14F-4D97-AF65-F5344CB8AC3E}">
        <p14:creationId xmlns:p14="http://schemas.microsoft.com/office/powerpoint/2010/main" val="2391350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2099" y="0"/>
            <a:ext cx="671979"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EDA</a:t>
            </a:r>
            <a:endParaRPr lang="en-IN" dirty="0"/>
          </a:p>
        </p:txBody>
      </p:sp>
      <p:sp>
        <p:nvSpPr>
          <p:cNvPr id="8" name="TextBox 7">
            <a:extLst>
              <a:ext uri="{FF2B5EF4-FFF2-40B4-BE49-F238E27FC236}">
                <a16:creationId xmlns:a16="http://schemas.microsoft.com/office/drawing/2014/main" id="{29841293-C592-B02D-E547-1228396DD36F}"/>
              </a:ext>
            </a:extLst>
          </p:cNvPr>
          <p:cNvSpPr txBox="1"/>
          <p:nvPr/>
        </p:nvSpPr>
        <p:spPr>
          <a:xfrm>
            <a:off x="6096000" y="666266"/>
            <a:ext cx="5668411"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box plot reveals that INDUSINDBK.NS experiences greater volatility and more extreme positive price changes on Mondays compared to Fridays. Fridays show more stable price movements, indicating a calmer trading environment before the weekend.</a:t>
            </a:r>
            <a:endParaRPr lang="en-IN"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380269" y="591024"/>
            <a:ext cx="5360979" cy="2686050"/>
          </a:xfrm>
          <a:prstGeom prst="rect">
            <a:avLst/>
          </a:prstGeom>
        </p:spPr>
      </p:pic>
      <p:pic>
        <p:nvPicPr>
          <p:cNvPr id="10" name="Picture 9"/>
          <p:cNvPicPr/>
          <p:nvPr/>
        </p:nvPicPr>
        <p:blipFill>
          <a:blip r:embed="rId3"/>
          <a:stretch>
            <a:fillRect/>
          </a:stretch>
        </p:blipFill>
        <p:spPr>
          <a:xfrm>
            <a:off x="380269" y="3498766"/>
            <a:ext cx="5360979" cy="3019425"/>
          </a:xfrm>
          <a:prstGeom prst="rect">
            <a:avLst/>
          </a:prstGeom>
        </p:spPr>
      </p:pic>
      <p:sp>
        <p:nvSpPr>
          <p:cNvPr id="2" name="Rectangle 1"/>
          <p:cNvSpPr/>
          <p:nvPr/>
        </p:nvSpPr>
        <p:spPr>
          <a:xfrm>
            <a:off x="6096000" y="3498766"/>
            <a:ext cx="5503817" cy="2951064"/>
          </a:xfrm>
          <a:prstGeom prst="rect">
            <a:avLst/>
          </a:prstGeom>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heatmap</a:t>
            </a:r>
            <a:r>
              <a:rPr lang="en-IN" dirty="0">
                <a:latin typeface="Times New Roman" panose="02020603050405020304" pitchFamily="18" charset="0"/>
                <a:cs typeface="Times New Roman" panose="02020603050405020304" pitchFamily="18" charset="0"/>
              </a:rPr>
              <a:t> shows strong positive correlations between SBIN.NS and ICICIBANK.NS (0.97), and SBIN.NS and AXISBANK.NS (0.9), indicating similar price movements. INDUSINDBK.NS has weaker correlations with other banks, particularly with HDFCBANK.NS (0.3) and ICICIBANK.NS (0.39), reflecting less synchronized price movements.</a:t>
            </a:r>
          </a:p>
        </p:txBody>
      </p:sp>
    </p:spTree>
    <p:extLst>
      <p:ext uri="{BB962C8B-B14F-4D97-AF65-F5344CB8AC3E}">
        <p14:creationId xmlns:p14="http://schemas.microsoft.com/office/powerpoint/2010/main" val="1709748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34982" y="55211"/>
            <a:ext cx="2183290" cy="369332"/>
          </a:xfrm>
          <a:prstGeom prst="rect">
            <a:avLst/>
          </a:prstGeom>
        </p:spPr>
        <p:txBody>
          <a:bodyPr wrap="none">
            <a:spAutoFit/>
          </a:bodyPr>
          <a:lstStyle/>
          <a:p>
            <a:r>
              <a:rPr lang="en-IN"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dirty="0"/>
          </a:p>
        </p:txBody>
      </p:sp>
      <p:sp>
        <p:nvSpPr>
          <p:cNvPr id="3" name="Rectangle 2"/>
          <p:cNvSpPr/>
          <p:nvPr/>
        </p:nvSpPr>
        <p:spPr>
          <a:xfrm>
            <a:off x="576942" y="424543"/>
            <a:ext cx="11299371" cy="627505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Normalization: </a:t>
            </a:r>
            <a:r>
              <a:rPr lang="en-US" dirty="0">
                <a:latin typeface="Times New Roman" panose="02020603050405020304" pitchFamily="18" charset="0"/>
                <a:cs typeface="Times New Roman" panose="02020603050405020304" pitchFamily="18" charset="0"/>
              </a:rPr>
              <a:t>Min-Max scaling is used to bring features like stock prices and trading volumes into a uniform range, typically between 0 and 1. This prevents larger numerical features from dominating the model and aids in faster convergence during model training, especially for gradient-based algorithms.</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Splitting: </a:t>
            </a:r>
            <a:r>
              <a:rPr lang="en-US" dirty="0">
                <a:latin typeface="Times New Roman" panose="02020603050405020304" pitchFamily="18" charset="0"/>
                <a:cs typeface="Times New Roman" panose="02020603050405020304" pitchFamily="18" charset="0"/>
              </a:rPr>
              <a:t>In time series forecasting, data is split sequentially into training and testing sets, preserving chronological order. This avoids data leakage and ensures that the model is evaluated on the most recent data, simulating real-world forecasting scenarios.</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Rolling Window Approach: </a:t>
            </a:r>
            <a:r>
              <a:rPr lang="en-US" dirty="0">
                <a:latin typeface="Times New Roman" panose="02020603050405020304" pitchFamily="18" charset="0"/>
                <a:cs typeface="Times New Roman" panose="02020603050405020304" pitchFamily="18" charset="0"/>
              </a:rPr>
              <a:t>This method uses a fixed window of historical data to continuously update the model, allowing it to predict the next time step. The window shifts forward after each prediction, helping the model adapt to recent market trends for improved stock price forecasting.</a:t>
            </a:r>
          </a:p>
          <a:p>
            <a:pPr marL="285750" indent="-285750">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Cleaning: </a:t>
            </a:r>
            <a:r>
              <a:rPr lang="en-US" dirty="0">
                <a:latin typeface="Times New Roman" panose="02020603050405020304" pitchFamily="18" charset="0"/>
                <a:cs typeface="Times New Roman" panose="02020603050405020304" pitchFamily="18" charset="0"/>
              </a:rPr>
              <a:t>This process involves handling missing values through techniques like forward filling and interpolation, managing outliers using methods like Z-score analysis or interquartile range, and performing consistency checks to ensure data accuracy and reliability for better model performance.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0359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702182" y="1056396"/>
            <a:ext cx="10518813" cy="549381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Vanilla LSTM Model Overview: </a:t>
            </a:r>
            <a:r>
              <a:rPr lang="en-US" dirty="0">
                <a:latin typeface="Times New Roman" panose="02020603050405020304" pitchFamily="18" charset="0"/>
                <a:cs typeface="Times New Roman" panose="02020603050405020304" pitchFamily="18" charset="0"/>
              </a:rPr>
              <a:t>The Vanilla LSTM model is used to predict stock prices for five major Indian banks listed in the Nifty50 index. It is designed to capture long-term patterns in time series data and serves as a benchmark for comparing more advanced models like Stacked LSTM and GRU.</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Architecture: </a:t>
            </a:r>
            <a:r>
              <a:rPr lang="en-US" dirty="0">
                <a:latin typeface="Times New Roman" panose="02020603050405020304" pitchFamily="18" charset="0"/>
                <a:cs typeface="Times New Roman" panose="02020603050405020304" pitchFamily="18" charset="0"/>
              </a:rPr>
              <a:t>The architecture includes a bidirectional LSTM layer, followed by dropout layers to prevent overfitting, a second unidirectional LSTM layer, and a Dense layer for merging outputs. The final output is a single-unit Dense layer that predicts the stock price.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and Optimization: </a:t>
            </a:r>
            <a:r>
              <a:rPr lang="en-US" dirty="0">
                <a:latin typeface="Times New Roman" panose="02020603050405020304" pitchFamily="18" charset="0"/>
                <a:cs typeface="Times New Roman" panose="02020603050405020304" pitchFamily="18" charset="0"/>
              </a:rPr>
              <a:t>The model uses the Adam optimizer with a learning rate between 1e-4 and 1e-2 and the Mean Squared Error (MSE) loss function, making it suitable for stock price prediction tasks. </a:t>
            </a:r>
            <a:r>
              <a:rPr lang="en-US" dirty="0" err="1">
                <a:latin typeface="Times New Roman" panose="02020603050405020304" pitchFamily="18" charset="0"/>
                <a:cs typeface="Times New Roman" panose="02020603050405020304" pitchFamily="18" charset="0"/>
              </a:rPr>
              <a:t>Hyperparameters</a:t>
            </a:r>
            <a:r>
              <a:rPr lang="en-US" dirty="0">
                <a:latin typeface="Times New Roman" panose="02020603050405020304" pitchFamily="18" charset="0"/>
                <a:cs typeface="Times New Roman" panose="02020603050405020304" pitchFamily="18" charset="0"/>
              </a:rPr>
              <a:t> such as LSTM units, dropout rates, and learning rates are fine-tuned to optimize performance.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Training and Evaluation: </a:t>
            </a:r>
            <a:r>
              <a:rPr lang="en-US" dirty="0">
                <a:latin typeface="Times New Roman" panose="02020603050405020304" pitchFamily="18" charset="0"/>
                <a:cs typeface="Times New Roman" panose="02020603050405020304" pitchFamily="18" charset="0"/>
              </a:rPr>
              <a:t>The model is trained on historical stock data (closing prices and trading volumes) from five banks, with the data split into training and validation sets. The results from the Vanilla LSTM serve as a baseline for evaluating more complex models like Stacked LSTM and GRU.</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7" name="Rectangle 6"/>
          <p:cNvSpPr/>
          <p:nvPr/>
        </p:nvSpPr>
        <p:spPr>
          <a:xfrm>
            <a:off x="1038088" y="641957"/>
            <a:ext cx="165109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Vanilla LSTM </a:t>
            </a:r>
            <a:endParaRPr lang="en-IN" dirty="0"/>
          </a:p>
        </p:txBody>
      </p:sp>
    </p:spTree>
    <p:extLst>
      <p:ext uri="{BB962C8B-B14F-4D97-AF65-F5344CB8AC3E}">
        <p14:creationId xmlns:p14="http://schemas.microsoft.com/office/powerpoint/2010/main" val="389372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Stacked LSTM Model Overview: </a:t>
            </a:r>
            <a:r>
              <a:rPr lang="en-US" dirty="0">
                <a:latin typeface="Times New Roman" panose="02020603050405020304" pitchFamily="18" charset="0"/>
                <a:cs typeface="Times New Roman" panose="02020603050405020304" pitchFamily="18" charset="0"/>
              </a:rPr>
              <a:t>The Stacked LSTM model enhances the Vanilla LSTM by incorporating multiple LSTM layers, making it more capable of capturing complex temporal relationships in stock price data. It is used to predict the prices of five major Indian banks in the Nifty50 index.</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Architecture: </a:t>
            </a:r>
            <a:r>
              <a:rPr lang="en-US" dirty="0">
                <a:latin typeface="Times New Roman" panose="02020603050405020304" pitchFamily="18" charset="0"/>
                <a:cs typeface="Times New Roman" panose="02020603050405020304" pitchFamily="18" charset="0"/>
              </a:rPr>
              <a:t>The architecture includes 2 to 4 LSTM layers with units ranging from 50 to 200. Dropout layers are applied after each LSTM layer to prevent overfitting, and a Dense layer processes the output before predicting the stock price.</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and Optimization: </a:t>
            </a:r>
            <a:r>
              <a:rPr lang="en-US" dirty="0">
                <a:latin typeface="Times New Roman" panose="02020603050405020304" pitchFamily="18" charset="0"/>
                <a:cs typeface="Times New Roman" panose="02020603050405020304" pitchFamily="18" charset="0"/>
              </a:rPr>
              <a:t>The model is compiled using the Adam optimizer with a learning rate between 1e-4 and 1e-2, and Mean Squared Error (MSE) is used as the loss function to penalize prediction errors.</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Evaluation: </a:t>
            </a:r>
            <a:r>
              <a:rPr lang="en-US" dirty="0">
                <a:latin typeface="Times New Roman" panose="02020603050405020304" pitchFamily="18" charset="0"/>
                <a:cs typeface="Times New Roman" panose="02020603050405020304" pitchFamily="18" charset="0"/>
              </a:rPr>
              <a:t>The model is trained on normalized historical stock price data, with the dataset split into training and validation sets. The Stacked LSTM's performance is compared to Vanilla LSTM and GRU models, with expectations of better handling complex financial time series patterns.</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6" name="Rectangle 5"/>
          <p:cNvSpPr/>
          <p:nvPr/>
        </p:nvSpPr>
        <p:spPr>
          <a:xfrm>
            <a:off x="904007" y="804630"/>
            <a:ext cx="173637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Stacked LSTM </a:t>
            </a:r>
            <a:endParaRPr lang="en-IN" dirty="0"/>
          </a:p>
        </p:txBody>
      </p:sp>
    </p:spTree>
    <p:extLst>
      <p:ext uri="{BB962C8B-B14F-4D97-AF65-F5344CB8AC3E}">
        <p14:creationId xmlns:p14="http://schemas.microsoft.com/office/powerpoint/2010/main" val="970923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RNN Layers: </a:t>
            </a:r>
            <a:r>
              <a:rPr lang="en-US" dirty="0">
                <a:latin typeface="Times New Roman" panose="02020603050405020304" pitchFamily="18" charset="0"/>
                <a:cs typeface="Times New Roman" panose="02020603050405020304" pitchFamily="18" charset="0"/>
              </a:rPr>
              <a:t>The model uses 1–3 RNN layers with 50–200 units per layer, capturing temporal dependencies. The </a:t>
            </a:r>
            <a:r>
              <a:rPr lang="en-US" dirty="0" err="1">
                <a:latin typeface="Times New Roman" panose="02020603050405020304" pitchFamily="18" charset="0"/>
                <a:cs typeface="Times New Roman" panose="02020603050405020304" pitchFamily="18" charset="0"/>
              </a:rPr>
              <a:t>return_sequences</a:t>
            </a:r>
            <a:r>
              <a:rPr lang="en-US" dirty="0">
                <a:latin typeface="Times New Roman" panose="02020603050405020304" pitchFamily="18" charset="0"/>
                <a:cs typeface="Times New Roman" panose="02020603050405020304" pitchFamily="18" charset="0"/>
              </a:rPr>
              <a:t> parameter is enabled for all layers except the last, which outputs the final state.</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Dropout and Dense Layers: </a:t>
            </a:r>
            <a:r>
              <a:rPr lang="en-US" dirty="0">
                <a:latin typeface="Times New Roman" panose="02020603050405020304" pitchFamily="18" charset="0"/>
                <a:cs typeface="Times New Roman" panose="02020603050405020304" pitchFamily="18" charset="0"/>
              </a:rPr>
              <a:t>Dropout layers (0.1–0.5) reduce overfitting after each RNN layer, while Dense layers (10–50 units) combine features and output the final stock price prediction.</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uses the Adam optimizer (learning rate 1e-4 to 1e-2) and MSE as the loss function to minimize prediction errors in stock prices.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and Tuning: </a:t>
            </a:r>
            <a:r>
              <a:rPr lang="en-US" dirty="0" err="1">
                <a:latin typeface="Times New Roman" panose="02020603050405020304" pitchFamily="18" charset="0"/>
                <a:cs typeface="Times New Roman" panose="02020603050405020304" pitchFamily="18" charset="0"/>
              </a:rPr>
              <a:t>Hyperparameter</a:t>
            </a:r>
            <a:r>
              <a:rPr lang="en-US" dirty="0">
                <a:latin typeface="Times New Roman" panose="02020603050405020304" pitchFamily="18" charset="0"/>
                <a:cs typeface="Times New Roman" panose="02020603050405020304" pitchFamily="18" charset="0"/>
              </a:rPr>
              <a:t> optimization adjusts layers, units, dropout rates, and learning rates. The model’s performance is compared with GRU and LSTM, prioritizing faster training for real-time forecasting.</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6" name="Rectangle 5"/>
          <p:cNvSpPr/>
          <p:nvPr/>
        </p:nvSpPr>
        <p:spPr>
          <a:xfrm>
            <a:off x="904007" y="804630"/>
            <a:ext cx="68480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RNN</a:t>
            </a:r>
            <a:endParaRPr lang="en-IN" dirty="0"/>
          </a:p>
        </p:txBody>
      </p:sp>
    </p:spTree>
    <p:extLst>
      <p:ext uri="{BB962C8B-B14F-4D97-AF65-F5344CB8AC3E}">
        <p14:creationId xmlns:p14="http://schemas.microsoft.com/office/powerpoint/2010/main" val="467189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561637-1F16-43A8-8F35-E3C310C85C24}"/>
              </a:ext>
            </a:extLst>
          </p:cNvPr>
          <p:cNvSpPr txBox="1"/>
          <p:nvPr/>
        </p:nvSpPr>
        <p:spPr>
          <a:xfrm>
            <a:off x="610742" y="1173962"/>
            <a:ext cx="10868739" cy="466281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GRU Layers: </a:t>
            </a:r>
            <a:r>
              <a:rPr lang="en-US" dirty="0">
                <a:latin typeface="Times New Roman" panose="02020603050405020304" pitchFamily="18" charset="0"/>
                <a:cs typeface="Times New Roman" panose="02020603050405020304" pitchFamily="18" charset="0"/>
              </a:rPr>
              <a:t>The model uses 2–4 GRU layers with 50–200 units per layer, capturing temporal dependencies in stock data, with return sequences enabled for all but the final layer.</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Dropout and Dense Layers: </a:t>
            </a:r>
            <a:r>
              <a:rPr lang="en-US" dirty="0">
                <a:latin typeface="Times New Roman" panose="02020603050405020304" pitchFamily="18" charset="0"/>
                <a:cs typeface="Times New Roman" panose="02020603050405020304" pitchFamily="18" charset="0"/>
              </a:rPr>
              <a:t>Dropout (0.1–0.5) prevents overfitting after each GRU layer, followed by Dense layers to reduce dimensions and output the predicted stock price.</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a:t>
            </a:r>
            <a:r>
              <a:rPr lang="en-US" dirty="0">
                <a:latin typeface="Times New Roman" panose="02020603050405020304" pitchFamily="18" charset="0"/>
                <a:cs typeface="Times New Roman" panose="02020603050405020304" pitchFamily="18" charset="0"/>
              </a:rPr>
              <a:t>The model is compiled using the Adam optimizer (learning rate 1e-4 to 1e-2) with MSE loss for accurate regression predictions.</a:t>
            </a: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Hyperparameter</a:t>
            </a:r>
            <a:r>
              <a:rPr lang="en-US" b="1" dirty="0">
                <a:latin typeface="Times New Roman" panose="02020603050405020304" pitchFamily="18" charset="0"/>
                <a:cs typeface="Times New Roman" panose="02020603050405020304" pitchFamily="18" charset="0"/>
              </a:rPr>
              <a:t> Tuning: </a:t>
            </a:r>
            <a:r>
              <a:rPr lang="en-US" dirty="0">
                <a:latin typeface="Times New Roman" panose="02020603050405020304" pitchFamily="18" charset="0"/>
                <a:cs typeface="Times New Roman" panose="02020603050405020304" pitchFamily="18" charset="0"/>
              </a:rPr>
              <a:t>Systematic tuning of layers, units, dropout rates, and learning rates is done, comparing GRU performance with Vanilla and Stacked LSTM models.</a:t>
            </a:r>
          </a:p>
        </p:txBody>
      </p:sp>
      <p:sp>
        <p:nvSpPr>
          <p:cNvPr id="2" name="Rectangle 1"/>
          <p:cNvSpPr/>
          <p:nvPr/>
        </p:nvSpPr>
        <p:spPr>
          <a:xfrm>
            <a:off x="4833498" y="272625"/>
            <a:ext cx="1800493"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ALGORITHMS</a:t>
            </a:r>
            <a:endParaRPr lang="en-US" dirty="0"/>
          </a:p>
        </p:txBody>
      </p:sp>
      <p:sp>
        <p:nvSpPr>
          <p:cNvPr id="5" name="Rectangle 4"/>
          <p:cNvSpPr/>
          <p:nvPr/>
        </p:nvSpPr>
        <p:spPr>
          <a:xfrm>
            <a:off x="913929" y="723294"/>
            <a:ext cx="69762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GRU</a:t>
            </a:r>
            <a:endParaRPr lang="en-IN" dirty="0"/>
          </a:p>
        </p:txBody>
      </p:sp>
    </p:spTree>
    <p:extLst>
      <p:ext uri="{BB962C8B-B14F-4D97-AF65-F5344CB8AC3E}">
        <p14:creationId xmlns:p14="http://schemas.microsoft.com/office/powerpoint/2010/main" val="4050278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5209" y="980232"/>
            <a:ext cx="10907487" cy="4662815"/>
          </a:xfrm>
          <a:prstGeom prst="rect">
            <a:avLst/>
          </a:prstGeom>
        </p:spPr>
        <p:txBody>
          <a:bodyPr wrap="square">
            <a:spAutoFit/>
          </a:body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Sequence Processing: </a:t>
            </a:r>
            <a:r>
              <a:rPr lang="en-US" dirty="0">
                <a:latin typeface="Times New Roman" panose="02020603050405020304" pitchFamily="18" charset="0"/>
                <a:cs typeface="Times New Roman" panose="02020603050405020304" pitchFamily="18" charset="0"/>
              </a:rPr>
              <a:t>In a Stacked LSTM, sequential input data (e.g., stock prices) is fed into multiple layers of LSTM cells. The output from one LSTM layer serves as the input for the next, enabling deeper learning of temporal patterns.</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Multiple LSTM Layers: </a:t>
            </a:r>
            <a:r>
              <a:rPr lang="en-US" dirty="0">
                <a:latin typeface="Times New Roman" panose="02020603050405020304" pitchFamily="18" charset="0"/>
                <a:cs typeface="Times New Roman" panose="02020603050405020304" pitchFamily="18" charset="0"/>
              </a:rPr>
              <a:t>Each LSTM layer processes the sequence, capturing more complex temporal dependencies at different levels. The </a:t>
            </a:r>
            <a:r>
              <a:rPr lang="en-US" dirty="0" err="1">
                <a:latin typeface="Times New Roman" panose="02020603050405020304" pitchFamily="18" charset="0"/>
                <a:cs typeface="Times New Roman" panose="02020603050405020304" pitchFamily="18" charset="0"/>
              </a:rPr>
              <a:t>return_sequences</a:t>
            </a:r>
            <a:r>
              <a:rPr lang="en-US" dirty="0">
                <a:latin typeface="Times New Roman" panose="02020603050405020304" pitchFamily="18" charset="0"/>
                <a:cs typeface="Times New Roman" panose="02020603050405020304" pitchFamily="18" charset="0"/>
              </a:rPr>
              <a:t> parameter is typically set to True for all layers except the final one to pass the full sequence between layers.</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Final LSTM Layer: </a:t>
            </a:r>
            <a:r>
              <a:rPr lang="en-US" dirty="0">
                <a:latin typeface="Times New Roman" panose="02020603050405020304" pitchFamily="18" charset="0"/>
                <a:cs typeface="Times New Roman" panose="02020603050405020304" pitchFamily="18" charset="0"/>
              </a:rPr>
              <a:t>The last LSTM layer outputs either the final hidden state or the entire sequence, depending on the configuration, which represents the learned features of the input data.</a:t>
            </a:r>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Dense Layer for Prediction: </a:t>
            </a:r>
            <a:r>
              <a:rPr lang="en-US" dirty="0">
                <a:latin typeface="Times New Roman" panose="02020603050405020304" pitchFamily="18" charset="0"/>
                <a:cs typeface="Times New Roman" panose="02020603050405020304" pitchFamily="18" charset="0"/>
              </a:rPr>
              <a:t>The output of the final LSTM layer is fed into a Dense layer to generate the final prediction, such as the next stock price in the sequence. This stacking increases model capacity for learning more intricate patterns.</a:t>
            </a:r>
          </a:p>
        </p:txBody>
      </p:sp>
      <p:sp>
        <p:nvSpPr>
          <p:cNvPr id="3" name="TextBox 2"/>
          <p:cNvSpPr txBox="1"/>
          <p:nvPr/>
        </p:nvSpPr>
        <p:spPr>
          <a:xfrm>
            <a:off x="4062547" y="352697"/>
            <a:ext cx="6048103"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Flow of Stacked LSTM</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924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710" y="1104070"/>
            <a:ext cx="10933612" cy="507831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Sequence Processing: </a:t>
            </a:r>
            <a:r>
              <a:rPr lang="en-US" dirty="0">
                <a:latin typeface="Times New Roman" panose="02020603050405020304" pitchFamily="18" charset="0"/>
                <a:cs typeface="Times New Roman" panose="02020603050405020304" pitchFamily="18" charset="0"/>
              </a:rPr>
              <a:t>The RNN model processes sequential input data (e.g., stock prices) one time step at a time, passing the current input and previous hidden state to the RNN cell, which captures short-term temporal dependencies.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RNN Cell Mechanism: </a:t>
            </a:r>
            <a:r>
              <a:rPr lang="en-US" dirty="0">
                <a:latin typeface="Times New Roman" panose="02020603050405020304" pitchFamily="18" charset="0"/>
                <a:cs typeface="Times New Roman" panose="02020603050405020304" pitchFamily="18" charset="0"/>
              </a:rPr>
              <a:t>At each time step, the RNN cell updates its hidden state using the current input and the previous hidden state. The RNN lacks the advanced gating mechanisms of LSTM, making it more prone to vanishing gradients when processing long sequences.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Hidden State Propagation: </a:t>
            </a:r>
            <a:r>
              <a:rPr lang="en-US" dirty="0">
                <a:latin typeface="Times New Roman" panose="02020603050405020304" pitchFamily="18" charset="0"/>
                <a:cs typeface="Times New Roman" panose="02020603050405020304" pitchFamily="18" charset="0"/>
              </a:rPr>
              <a:t>The hidden state is propagated through each time step of the sequence, learning dependencies based on the input data. However, RNNs can struggle to capture long-term dependencies compared to LSTM or GRU models.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Dense Layer for Output: </a:t>
            </a:r>
            <a:r>
              <a:rPr lang="en-US" dirty="0">
                <a:latin typeface="Times New Roman" panose="02020603050405020304" pitchFamily="18" charset="0"/>
                <a:cs typeface="Times New Roman" panose="02020603050405020304" pitchFamily="18" charset="0"/>
              </a:rPr>
              <a:t>After the final time step, the hidden state is passed to a Dense layer, which produces the final prediction (e.g., stock price prediction for the next time step). The simplicity of RNNs makes them faster but less effective for long sequences.</a:t>
            </a:r>
          </a:p>
        </p:txBody>
      </p:sp>
      <p:sp>
        <p:nvSpPr>
          <p:cNvPr id="3" name="TextBox 2"/>
          <p:cNvSpPr txBox="1"/>
          <p:nvPr/>
        </p:nvSpPr>
        <p:spPr>
          <a:xfrm>
            <a:off x="4062548" y="352697"/>
            <a:ext cx="4887488"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Flow of RNN</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515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6651" y="1306804"/>
            <a:ext cx="10293532" cy="507831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Input Sequence Processing: </a:t>
            </a:r>
            <a:r>
              <a:rPr lang="en-US" dirty="0">
                <a:latin typeface="Times New Roman" panose="02020603050405020304" pitchFamily="18" charset="0"/>
                <a:cs typeface="Times New Roman" panose="02020603050405020304" pitchFamily="18" charset="0"/>
              </a:rPr>
              <a:t>GRU processes sequential input data (e.g., stock prices) by passing the input and the previous hidden state into its gated units, effectively capturing temporal dependencies across time steps.</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GRU Cell Mechanism: </a:t>
            </a:r>
            <a:r>
              <a:rPr lang="en-US" dirty="0">
                <a:latin typeface="Times New Roman" panose="02020603050405020304" pitchFamily="18" charset="0"/>
                <a:cs typeface="Times New Roman" panose="02020603050405020304" pitchFamily="18" charset="0"/>
              </a:rPr>
              <a:t>Each GRU cell uses two gates—update gate and reset gate—to control the flow of information. The update gate decides how much of the past information to retain, while the reset gate controls how much of the past data to forget.</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Hidden State Propagation: </a:t>
            </a:r>
            <a:r>
              <a:rPr lang="en-US" dirty="0">
                <a:latin typeface="Times New Roman" panose="02020603050405020304" pitchFamily="18" charset="0"/>
                <a:cs typeface="Times New Roman" panose="02020603050405020304" pitchFamily="18" charset="0"/>
              </a:rPr>
              <a:t>The GRU updates the hidden state at each time step based on the gates' outputs, allowing it to efficiently capture both short-term and long-term dependencies in the sequence, without separate memory cells like in LSTM.</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Final Prediction: </a:t>
            </a:r>
            <a:r>
              <a:rPr lang="en-US" dirty="0">
                <a:latin typeface="Times New Roman" panose="02020603050405020304" pitchFamily="18" charset="0"/>
                <a:cs typeface="Times New Roman" panose="02020603050405020304" pitchFamily="18" charset="0"/>
              </a:rPr>
              <a:t>After processing the sequence, the final hidden state is passed to a Dense layer, which generates the prediction (e.g., stock price). GRUs offer a simpler, faster alternative to LSTMs while maintaining strong performance in capturing sequence patterns.</a:t>
            </a:r>
          </a:p>
        </p:txBody>
      </p:sp>
      <p:sp>
        <p:nvSpPr>
          <p:cNvPr id="3" name="TextBox 2"/>
          <p:cNvSpPr txBox="1"/>
          <p:nvPr/>
        </p:nvSpPr>
        <p:spPr>
          <a:xfrm>
            <a:off x="4062548" y="352697"/>
            <a:ext cx="4887488"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Working Flow of GRU</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737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7" y="326572"/>
            <a:ext cx="10280469" cy="5973238"/>
          </a:xfrm>
          <a:prstGeom prst="rect">
            <a:avLst/>
          </a:prstGeom>
        </p:spPr>
        <p:txBody>
          <a:bodyPr wrap="square">
            <a:spAutoFit/>
          </a:bodyPr>
          <a:lstStyle/>
          <a:p>
            <a:pPr lvl="0" algn="ctr">
              <a:lnSpc>
                <a:spcPct val="150000"/>
              </a:lnSpc>
              <a:spcBef>
                <a:spcPts val="1600"/>
              </a:spcBef>
              <a:spcAft>
                <a:spcPts val="1200"/>
              </a:spcAft>
              <a:tabLst>
                <a:tab pos="457200" algn="l"/>
              </a:tabLst>
            </a:pPr>
            <a:r>
              <a:rPr lang="en-US" sz="2800" b="1" kern="0" dirty="0">
                <a:latin typeface="Times New Roman" panose="02020603050405020304" pitchFamily="18" charset="0"/>
                <a:ea typeface="Times New Roman" panose="02020603050405020304" pitchFamily="18" charset="0"/>
                <a:cs typeface="Times New Roman" panose="02020603050405020304" pitchFamily="18" charset="0"/>
              </a:rPr>
              <a:t>References</a:t>
            </a: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Fischer, T., &amp; Krauss, C. (2018). Deep Learning with Long Short-Term Memory Networks for Financial Market Predictions. European Journal of Operational Research, 270(2), 654-664. doi:10.1016/j.ejor.2017.11.054</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Hochreiter</a:t>
            </a:r>
            <a:r>
              <a:rPr lang="en-US"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S., &amp; </a:t>
            </a:r>
            <a:r>
              <a:rPr lang="en-US"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Schmidhuber</a:t>
            </a:r>
            <a:r>
              <a:rPr lang="en-US"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J. (1997). Long Short-Term Memory. Neural Computation, 9(8), 1735-1780. doi:10.1162/neco.1997.9.8.1735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US"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Zhang, K., Zhang G., Dong, J., (2019). </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Stock Market Prediction Based on Generative Adversarial Network</a:t>
            </a:r>
            <a:r>
              <a:rPr lang="en-US"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Procedia Computer Science, 147, 400-406. doi:10.1016/j.procs.2019.01.256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Kumar, R., Kumar, P., Kumar Y., (2021). Analysis of Financial Time Series Forecasting using Deep Learning Model. 2021 11th International Conference on Cloud Computing, Data Science &amp; Engineering. doi:10.1109/Confluence51648.2021.9377158</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205740" lvl="0" indent="-342900" algn="just">
              <a:lnSpc>
                <a:spcPct val="115000"/>
              </a:lnSpc>
              <a:spcBef>
                <a:spcPts val="1000"/>
              </a:spcBef>
              <a:spcAft>
                <a:spcPts val="0"/>
              </a:spcAft>
              <a:buSzPts val="1200"/>
              <a:buFont typeface="+mj-lt"/>
              <a:buAutoNum type="arabicPeriod"/>
              <a:tabLst>
                <a:tab pos="831850" algn="l"/>
              </a:tabLst>
            </a:pPr>
            <a:r>
              <a:rPr lang="en-MY"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Diaa</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Salama Abd </a:t>
            </a:r>
            <a:r>
              <a:rPr lang="en-MY"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Elminaam</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Asmaa M </a:t>
            </a:r>
            <a:r>
              <a:rPr lang="en-MY"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El-</a:t>
            </a:r>
            <a:r>
              <a:rPr lang="en-MY"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Tanany</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Mohamed Abd El Fattah and Mustafa Abdul Salam, (2024). </a:t>
            </a:r>
            <a:r>
              <a:rPr lang="en-MY" sz="1800" i="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StockBiLSTM</a:t>
            </a:r>
            <a:r>
              <a:rPr lang="en-MY" sz="18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Utilizing an Efficient Deep Learning Approach for Forecasting Stock Market Time Series Data. International Journal of Advanced Computer Science and Applications (IJACSA), 15(4), doi:10.14569/IJACSA.2024.0150446</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528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23656" y="2895600"/>
            <a:ext cx="4917440" cy="1015663"/>
          </a:xfrm>
          <a:prstGeom prst="rect">
            <a:avLst/>
          </a:prstGeom>
        </p:spPr>
        <p:txBody>
          <a:bodyPr wrap="square">
            <a:spAutoFit/>
          </a:bodyPr>
          <a:lstStyle/>
          <a:p>
            <a:r>
              <a:rPr lang="en-IN" alt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06336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2950</TotalTime>
  <Words>3510</Words>
  <Application>Microsoft Office PowerPoint</Application>
  <PresentationFormat>Widescreen</PresentationFormat>
  <Paragraphs>191</Paragraphs>
  <Slides>30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Droid Sans Fallback</vt:lpstr>
      <vt:lpstr>Poppins</vt:lpstr>
      <vt:lpstr>Poppins Black</vt:lpstr>
      <vt:lpstr>Times New Roman</vt:lpstr>
      <vt:lpstr>Tw Cen MT</vt:lpstr>
      <vt:lpstr>Wingdings</vt:lpstr>
      <vt:lpstr>Droplet</vt:lpstr>
      <vt:lpstr>PowerPoint Presentation</vt:lpstr>
      <vt:lpstr>PowerPoint Presentation</vt:lpstr>
      <vt:lpstr>Project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BALARAM PANIGRAHY</dc:creator>
  <cp:lastModifiedBy>Asadulla K</cp:lastModifiedBy>
  <cp:revision>661</cp:revision>
  <dcterms:created xsi:type="dcterms:W3CDTF">2022-04-13T10:05:01Z</dcterms:created>
  <dcterms:modified xsi:type="dcterms:W3CDTF">2025-11-22T05:12:53Z</dcterms:modified>
</cp:coreProperties>
</file>